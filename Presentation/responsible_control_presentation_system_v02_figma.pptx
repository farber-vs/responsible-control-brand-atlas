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RC/Slide/Cover
Use: Обложка системы или крупного раздела
[Sources]
- Local: README.md; 08_Visual_System.md; 20_One_Page.md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RC/Slide/Statement
Use: Один принцип или итог
[Sources]
- Local: 08_Visual_System.md — Визуальная позиция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RC/Slide/OneColumn
Use: Последовательный нормативный список
[Sources]
- Local: 08_Visual_System.md — Семь визуальных принципов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RC/Slide/Table
Use: Шкала, роли и правила типографики
[Sources]
- Local: 08_Visual_System.md — Прототипная типографика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RC/Slide/Table
Use: Палитра и функциональные ограничения
[Sources]
- Local: 08_Visual_System.md — Цвет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RC/Slide/TextVisual
Use: Правила композиции и демонстрация 12 колонок
[Sources]
- Local: 08_Visual_System.md — Сетка и композиция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RC/Slide/Comparison
Use: Сопоставить формальные и визуальные ограничения
[Sources]
- Local: 08_Visual_System.md — Форма; Изображения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RC/Slide/Evidence
Use: Показать знак и ограничения его применения
[Sources]
- Local: 08_Visual_System.md — Знак системы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RC/Slide/Process
Use: Показать функциональный темп и запреты
[Sources]
- Local: 08_Visual_System.md — Motion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RC/Slide/Comparison
Use: Удержать систему между двумя нежелательными полюсами
[Sources]
- Local: 08_Visual_System.md — Анти-luxury и анти-punitive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RC/Slide/Statement
Use: Зафиксировать грамматику без логотипа
[Sources]
- Local: 08_Visual_System.md — Узнаваемость без логотипа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RC/Slide/Section
Use: Переход к новому уровню рассказа
[Sources]
- Local: 15_MVP_Prototype.md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RC/Slide/OneColumn
Use: Перечислить проверяемые свойства опыта
[Sources]
- Local: 15_MVP_Prototype.md — Что мы проверяем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RC/Slide/Process
Use: Показать полный путь человека
[Sources]
- Local: 15_MVP_Prototype.md — Сквозной сценарий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RC/Slide/Section
Use: Переход к новому уровню рассказа
[Sources]
- Local: 15_MVP_Prototype.md — Физический комплект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RC/Slide/TextVisual
Use: Требования слева, будущий макет справа
[Sources]
- Local: 15_MVP_Prototype.md — Физический комплект / Упаковка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RC/Slide/Process
Use: Показать элементы пути через точку
[Sources]
- Local: 15_MVP_Prototype.md — Физический комплект / Пространство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RC/Slide/TextVisual
Use: Комплект слева, будущая раскладка справа
[Sources]
- Local: 15_MVP_Prototype.md — Физический комплект / Печатные носители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RC/Slide/Process
Use: Показать семь экранов и служебное исключение
[Sources]
- Local: 15_MVP_Prototype.md — Digital-комплект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RC/Slide/OneColumn
Use: Перечислить пять разыгрываемых ситуаций
[Sources]
- Local: 15_MVP_Prototype.md — Сервисные сценарии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RC/Slide/Comparison
Use: Сопоставить три режима в одном пространстве
[Sources]
- Local: 15_MVP_Prototype.md — Сенсорные режимы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RC/Slide/OneColumn
Use: Сделать границу MVP видимой
[Sources]
- Local: 15_MVP_Prototype.md — Что намеренно не делаем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RC/Slide/OneColumn
Use: Показать проверяемые условия завершения
[Sources]
- Local: 15_MVP_Prototype.md — Definition of Done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RC/Slide/NextSteps
Use: Завершить решением, которое должен позволить прототип
[Sources]
- Local: 15_MVP_Prototype.md — Итог MVP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RC/Slide/Section
Use: Переход к новому уровню рассказа
[Sources]
- Local: 08_Visual_System.md; 10_Packaging_System.md; 11_Retail_Environment.md; 14_Channels_and_Digital.md; 15_MVP_Prototype.md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10_Packaging_System.md — Три семейства MVP; Цвет и различимость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10_Packaging_System.md — A. Жидкость; Лицевая иерархия; Оборот и боковые зоны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10_Packaging_System.md — B. Набор единиц; Лицевая иерархия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10_Packaging_System.md — C. Контролируемая единица; Материальная система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08_Visual_System.md — Узнаваемость без логотипа; 10_Packaging_System.md — Лицевая иерархия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10_Packaging_System.md — Оборот и боковые зоны; QR и реестр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RC/Solution/KitOverview
Use: Зафиксировать обязательный визуал, его ракурс и функцию
[Sources]
- Local: 10_Packaging_System.md — Три прототипа; 15_MVP_Prototype.md — Упаковка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RC/Slide/Section
Use: Переход к новому уровню рассказа
[Sources]
- Local: 11_Retail_Environment.md; 13_Sensory_Standard.md; 15_MVP_Prototype.md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11_Retail_Environment.md — Фасад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11_Retail_Environment.md — Зоны / Порог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11_Retail_Environment.md — Публичная информация; Ориентация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11_Retail_Environment.md — Очередь; Приватная консультация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11_Retail_Environment.md — Проверка и подтверждение; Выдача; Выкладка и хранение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11_Retail_Environment.md — Выход; Пакет и чек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RC/Solution/PlanBrief
Use: Зафиксировать обязательный визуал, его ракурс и функцию
[Sources]
- Local: 11_Retail_Environment.md — Зоны; Навигация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RC/Slide/Section
Use: Переход к новому уровню рассказа
[Sources]
- Local: 11_Retail_Environment.md — Пакет и чек; 15_MVP_Prototype.md — Печатные носители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14_Channels_and_Digital.md — Карточка продукта; 15_MVP_Prototype.md — Печатные носители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11_Retail_Environment.md — Пакет и чек; 12_Staff_Behaviour.md — Формула отказа; 15_MVP_Prototype.md — Печатные носители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12_Staff_Behaviour.md — Внешний вид сотрудника; 15_MVP_Prototype.md — Служебный badge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RC/Slide/Section
Use: Переход к новому уровню рассказа
[Sources]
- Local: 14_Channels_and_Digital.md; 15_MVP_Prototype.md — Digital-комплект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14_Channels_and_Digital.md — Digital-каталог / Путь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14_Channels_and_Digital.md — Digital-каталог / Путь; Разрешённые фильтры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14_Channels_and_Digital.md — Аккаунт и данные; Уведомления; Help channel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RC/Solution/ScreenBrief
Use: Зафиксировать обязательный визуал, его ракурс и функцию
[Sources]
- Local: 14_Channels_and_Digital.md — Архитектура каналов; 15_MVP_Prototype.md — Digital-комплект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RC/Slide/Section
Use: Переход к новому уровню рассказа
[Sources]
- Local: 12_Staff_Behaviour.md; 13_Sensory_Standard.md; 15_MVP_Prototype.md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RC/Solution/Storyboard
Use: Зафиксировать обязательный визуал, его ракурс и функцию
[Sources]
- Local: 12_Staff_Behaviour.md — Базовый сценарий; 15_MVP_Prototype.md — Сервисные сценарии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RC/Solution/Storyboard
Use: Зафиксировать обязательный визуал, его ракурс и функцию
[Sources]
- Local: 12_Staff_Behaviour.md — Формула отказа; Невербальное поведение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13_Sensory_Standard.md — Свет; Музыка и звук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RC/Solution/ShotBrief
Use: Зафиксировать обязательный визуал, его ракурс и функцию
[Sources]
- Local: 13_Sensory_Standard.md — Тест; 15_MVP_Prototype.md — Сенсорные режимы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RC/Solution/FinalAssembly
Use: Зафиксировать обязательный визуал, его ракурс и функцию
[Sources]
- Local: 08_Visual_System.md — Узнаваемость без логотипа; 15_MVP_Prototype.md — Definition of Done; Итог MVP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stem-rule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45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ver-kicker"/>
          <p:cNvSpPr txBox="1"/>
          <p:nvPr/>
        </p:nvSpPr>
        <p:spPr>
          <a:xfrm>
            <a:off x="609600" y="552450"/>
            <a:ext cx="495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WORKING SYSTEM · v0.2</a:t>
            </a:r>
            <a:endParaRPr lang="en-US" sz="1350" dirty="0"/>
          </a:p>
        </p:txBody>
      </p:sp>
      <p:sp>
        <p:nvSpPr>
          <p:cNvPr id="4" name="cover-title"/>
          <p:cNvSpPr txBox="1"/>
          <p:nvPr/>
        </p:nvSpPr>
        <p:spPr>
          <a:xfrm>
            <a:off x="609600" y="152400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Responsible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</a:t>
            </a:r>
            <a:endParaRPr lang="en-US" sz="5400" dirty="0"/>
          </a:p>
        </p:txBody>
      </p:sp>
      <p:sp>
        <p:nvSpPr>
          <p:cNvPr id="5" name="cover-subtitle"/>
          <p:cNvSpPr txBox="1"/>
          <p:nvPr/>
        </p:nvSpPr>
        <p:spPr>
          <a:xfrm>
            <a:off x="609600" y="37528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Визуальная система · MVP · solution frames</a:t>
            </a:r>
            <a:endParaRPr lang="en-US" sz="2400" dirty="0"/>
          </a:p>
        </p:txBody>
      </p:sp>
      <p:sp>
        <p:nvSpPr>
          <p:cNvPr id="6" name="rule"/>
          <p:cNvSpPr/>
          <p:nvPr/>
        </p:nvSpPr>
        <p:spPr>
          <a:xfrm>
            <a:off x="609600" y="4953000"/>
            <a:ext cx="3238500" cy="38100"/>
          </a:xfrm>
          <a:prstGeom prst="rect">
            <a:avLst/>
          </a:prstGeom>
          <a:solidFill>
            <a:srgbClr val="245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cover-idea"/>
          <p:cNvSpPr txBox="1"/>
          <p:nvPr/>
        </p:nvSpPr>
        <p:spPr>
          <a:xfrm>
            <a:off x="609600" y="52006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Ясность без давления.</a:t>
            </a:r>
            <a:endParaRPr lang="en-US" sz="2400" dirty="0"/>
          </a:p>
        </p:txBody>
      </p:sp>
      <p:sp>
        <p:nvSpPr>
          <p:cNvPr id="8" name="cover-sequence"/>
          <p:cNvSpPr txBox="1"/>
          <p:nvPr/>
        </p:nvSpPr>
        <p:spPr>
          <a:xfrm>
            <a:off x="609600" y="6000750"/>
            <a:ext cx="9715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родовой класс → содержание → единица → риск → режим → версия → помощь</a:t>
            </a:r>
            <a:endParaRPr lang="en-US" sz="1200" dirty="0"/>
          </a:p>
        </p:txBody>
      </p:sp>
      <p:sp>
        <p:nvSpPr>
          <p:cNvPr id="9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11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55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 · HYPOTHESIS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Визуальная позиция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55</a:t>
            </a:r>
            <a:endParaRPr lang="en-US" sz="1050" dirty="0"/>
          </a:p>
        </p:txBody>
      </p:sp>
      <p:sp>
        <p:nvSpPr>
          <p:cNvPr id="9" name="statement-rule"/>
          <p:cNvSpPr/>
          <p:nvPr/>
        </p:nvSpPr>
        <p:spPr>
          <a:xfrm>
            <a:off x="609600" y="2038350"/>
            <a:ext cx="76200" cy="2266950"/>
          </a:xfrm>
          <a:prstGeom prst="rect">
            <a:avLst/>
          </a:prstGeom>
          <a:solidFill>
            <a:srgbClr val="245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tatement"/>
          <p:cNvSpPr txBox="1"/>
          <p:nvPr/>
        </p:nvSpPr>
        <p:spPr>
          <a:xfrm>
            <a:off x="990600" y="1981200"/>
            <a:ext cx="99060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Обычная гражданская инфраструктура: ясная, спокойная, плотная по смыслу, лишённая рекламной режиссуры.</a:t>
            </a:r>
            <a:endParaRPr lang="en-US" sz="3300" dirty="0"/>
          </a:p>
        </p:txBody>
      </p:sp>
      <p:sp>
        <p:nvSpPr>
          <p:cNvPr id="11" name="interpretation"/>
          <p:cNvSpPr txBox="1"/>
          <p:nvPr/>
        </p:nvSpPr>
        <p:spPr>
          <a:xfrm>
            <a:off x="990600" y="4038600"/>
            <a:ext cx="885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Система заметна там, где человеку нужно остановиться, прочитать или действовать, и отступает там, где заметность создаёт желание.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Семь визуальных принципов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55</a:t>
            </a:r>
            <a:endParaRPr lang="en-US" sz="1050" dirty="0"/>
          </a:p>
        </p:txBody>
      </p:sp>
      <p:sp>
        <p:nvSpPr>
          <p:cNvPr id="9" name="item-1-number"/>
          <p:cNvSpPr txBox="1"/>
          <p:nvPr/>
        </p:nvSpPr>
        <p:spPr>
          <a:xfrm>
            <a:off x="609600" y="19050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item-1-title"/>
          <p:cNvSpPr txBox="1"/>
          <p:nvPr/>
        </p:nvSpPr>
        <p:spPr>
          <a:xfrm>
            <a:off x="1123950" y="1885950"/>
            <a:ext cx="478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Иерархия вместо образа</a:t>
            </a:r>
            <a:endParaRPr lang="en-US" sz="1650" dirty="0"/>
          </a:p>
        </p:txBody>
      </p:sp>
      <p:sp>
        <p:nvSpPr>
          <p:cNvPr id="11" name="item-1-body"/>
          <p:cNvSpPr txBox="1"/>
          <p:nvPr/>
        </p:nvSpPr>
        <p:spPr>
          <a:xfrm>
            <a:off x="1123950" y="2209800"/>
            <a:ext cx="4781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Узнаваемость строится порядком данных, а не стилевым жестом.</a:t>
            </a:r>
            <a:endParaRPr lang="en-US" sz="1350" dirty="0"/>
          </a:p>
        </p:txBody>
      </p:sp>
      <p:sp>
        <p:nvSpPr>
          <p:cNvPr id="12" name="item-2-number"/>
          <p:cNvSpPr txBox="1"/>
          <p:nvPr/>
        </p:nvSpPr>
        <p:spPr>
          <a:xfrm>
            <a:off x="609600" y="29337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item-2-title"/>
          <p:cNvSpPr txBox="1"/>
          <p:nvPr/>
        </p:nvSpPr>
        <p:spPr>
          <a:xfrm>
            <a:off x="1123950" y="2914650"/>
            <a:ext cx="478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Равное представление</a:t>
            </a:r>
            <a:endParaRPr lang="en-US" sz="1650" dirty="0"/>
          </a:p>
        </p:txBody>
      </p:sp>
      <p:sp>
        <p:nvSpPr>
          <p:cNvPr id="14" name="item-2-body"/>
          <p:cNvSpPr txBox="1"/>
          <p:nvPr/>
        </p:nvSpPr>
        <p:spPr>
          <a:xfrm>
            <a:off x="1123950" y="3238500"/>
            <a:ext cx="4781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Сопоставимые продукты получают одинаковую площадь, формат и качество показа.</a:t>
            </a:r>
            <a:endParaRPr lang="en-US" sz="1350" dirty="0"/>
          </a:p>
        </p:txBody>
      </p:sp>
      <p:sp>
        <p:nvSpPr>
          <p:cNvPr id="15" name="item-3-number"/>
          <p:cNvSpPr txBox="1"/>
          <p:nvPr/>
        </p:nvSpPr>
        <p:spPr>
          <a:xfrm>
            <a:off x="609600" y="39624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item-3-title"/>
          <p:cNvSpPr txBox="1"/>
          <p:nvPr/>
        </p:nvSpPr>
        <p:spPr>
          <a:xfrm>
            <a:off x="1123950" y="3943350"/>
            <a:ext cx="478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Число раньше эпитета</a:t>
            </a:r>
            <a:endParaRPr lang="en-US" sz="1650" dirty="0"/>
          </a:p>
        </p:txBody>
      </p:sp>
      <p:sp>
        <p:nvSpPr>
          <p:cNvPr id="17" name="item-3-body"/>
          <p:cNvSpPr txBox="1"/>
          <p:nvPr/>
        </p:nvSpPr>
        <p:spPr>
          <a:xfrm>
            <a:off x="1123950" y="4267200"/>
            <a:ext cx="4781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Сила, единица и количество доминируют над описанием.</a:t>
            </a:r>
            <a:endParaRPr lang="en-US" sz="1350" dirty="0"/>
          </a:p>
        </p:txBody>
      </p:sp>
      <p:sp>
        <p:nvSpPr>
          <p:cNvPr id="18" name="item-4-number"/>
          <p:cNvSpPr txBox="1"/>
          <p:nvPr/>
        </p:nvSpPr>
        <p:spPr>
          <a:xfrm>
            <a:off x="609600" y="49911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item-4-title"/>
          <p:cNvSpPr txBox="1"/>
          <p:nvPr/>
        </p:nvSpPr>
        <p:spPr>
          <a:xfrm>
            <a:off x="1123950" y="4972050"/>
            <a:ext cx="478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Сигнал только по функции</a:t>
            </a:r>
            <a:endParaRPr lang="en-US" sz="1650" dirty="0"/>
          </a:p>
        </p:txBody>
      </p:sp>
      <p:sp>
        <p:nvSpPr>
          <p:cNvPr id="20" name="item-4-body"/>
          <p:cNvSpPr txBox="1"/>
          <p:nvPr/>
        </p:nvSpPr>
        <p:spPr>
          <a:xfrm>
            <a:off x="1123950" y="5295900"/>
            <a:ext cx="4781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Цвет, иконка и акцент обозначают действие, а не настроение или престиж.</a:t>
            </a:r>
            <a:endParaRPr lang="en-US" sz="1350" dirty="0"/>
          </a:p>
        </p:txBody>
      </p:sp>
      <p:sp>
        <p:nvSpPr>
          <p:cNvPr id="21" name="item-5-number"/>
          <p:cNvSpPr txBox="1"/>
          <p:nvPr/>
        </p:nvSpPr>
        <p:spPr>
          <a:xfrm>
            <a:off x="6286500" y="19050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350" dirty="0"/>
          </a:p>
        </p:txBody>
      </p:sp>
      <p:sp>
        <p:nvSpPr>
          <p:cNvPr id="22" name="item-5-title"/>
          <p:cNvSpPr txBox="1"/>
          <p:nvPr/>
        </p:nvSpPr>
        <p:spPr>
          <a:xfrm>
            <a:off x="6800850" y="1885950"/>
            <a:ext cx="478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Обычность без бедности</a:t>
            </a:r>
            <a:endParaRPr lang="en-US" sz="1650" dirty="0"/>
          </a:p>
        </p:txBody>
      </p:sp>
      <p:sp>
        <p:nvSpPr>
          <p:cNvPr id="23" name="item-5-body"/>
          <p:cNvSpPr txBox="1"/>
          <p:nvPr/>
        </p:nvSpPr>
        <p:spPr>
          <a:xfrm>
            <a:off x="6800850" y="2209800"/>
            <a:ext cx="4781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Материалы стандартны и долговечны, но не намеренно дешёвы или унизительны.</a:t>
            </a:r>
            <a:endParaRPr lang="en-US" sz="1350" dirty="0"/>
          </a:p>
        </p:txBody>
      </p:sp>
      <p:sp>
        <p:nvSpPr>
          <p:cNvPr id="24" name="item-6-number"/>
          <p:cNvSpPr txBox="1"/>
          <p:nvPr/>
        </p:nvSpPr>
        <p:spPr>
          <a:xfrm>
            <a:off x="6286500" y="31623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350" dirty="0"/>
          </a:p>
        </p:txBody>
      </p:sp>
      <p:sp>
        <p:nvSpPr>
          <p:cNvPr id="25" name="item-6-title"/>
          <p:cNvSpPr txBox="1"/>
          <p:nvPr/>
        </p:nvSpPr>
        <p:spPr>
          <a:xfrm>
            <a:off x="6800850" y="3143250"/>
            <a:ext cx="478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Доступность по умолчанию</a:t>
            </a:r>
            <a:endParaRPr lang="en-US" sz="1650" dirty="0"/>
          </a:p>
        </p:txBody>
      </p:sp>
      <p:sp>
        <p:nvSpPr>
          <p:cNvPr id="26" name="item-6-body"/>
          <p:cNvSpPr txBox="1"/>
          <p:nvPr/>
        </p:nvSpPr>
        <p:spPr>
          <a:xfrm>
            <a:off x="6800850" y="3467100"/>
            <a:ext cx="4781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Контраст, размер, язык и навигация не являются дополнительным режимом.</a:t>
            </a:r>
            <a:endParaRPr lang="en-US" sz="1350" dirty="0"/>
          </a:p>
        </p:txBody>
      </p:sp>
      <p:sp>
        <p:nvSpPr>
          <p:cNvPr id="27" name="item-7-number"/>
          <p:cNvSpPr txBox="1"/>
          <p:nvPr/>
        </p:nvSpPr>
        <p:spPr>
          <a:xfrm>
            <a:off x="6286500" y="44196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350" dirty="0"/>
          </a:p>
        </p:txBody>
      </p:sp>
      <p:sp>
        <p:nvSpPr>
          <p:cNvPr id="28" name="item-7-title"/>
          <p:cNvSpPr txBox="1"/>
          <p:nvPr/>
        </p:nvSpPr>
        <p:spPr>
          <a:xfrm>
            <a:off x="6800850" y="4400550"/>
            <a:ext cx="47815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Никакой награды за риск</a:t>
            </a:r>
            <a:endParaRPr lang="en-US" sz="1650" dirty="0"/>
          </a:p>
        </p:txBody>
      </p:sp>
      <p:sp>
        <p:nvSpPr>
          <p:cNvPr id="29" name="item-7-body"/>
          <p:cNvSpPr txBox="1"/>
          <p:nvPr/>
        </p:nvSpPr>
        <p:spPr>
          <a:xfrm>
            <a:off x="6800850" y="4724400"/>
            <a:ext cx="4781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Более сильный или опасный продукт не становится ярче, крупнее или «серьёзнее».</a:t>
            </a:r>
            <a:endParaRPr lang="en-US" sz="1350" dirty="0"/>
          </a:p>
        </p:txBody>
      </p:sp>
      <p:sp>
        <p:nvSpPr>
          <p:cNvPr id="30" name="rule"/>
          <p:cNvSpPr/>
          <p:nvPr/>
        </p:nvSpPr>
        <p:spPr>
          <a:xfrm>
            <a:off x="5943600" y="1885950"/>
            <a:ext cx="9525" cy="419100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 · HYPOTHESIS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Прототипная типографика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55</a:t>
            </a:r>
            <a:endParaRPr lang="en-US" sz="1050" dirty="0"/>
          </a:p>
        </p:txBody>
      </p:sp>
      <p:sp>
        <p:nvSpPr>
          <p:cNvPr id="9" name="font-primary"/>
          <p:cNvSpPr txBox="1"/>
          <p:nvPr/>
        </p:nvSpPr>
        <p:spPr>
          <a:xfrm>
            <a:off x="609600" y="18669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Noto Sans</a:t>
            </a:r>
            <a:endParaRPr lang="en-US" sz="3000" dirty="0"/>
          </a:p>
        </p:txBody>
      </p:sp>
      <p:sp>
        <p:nvSpPr>
          <p:cNvPr id="10" name="text"/>
          <p:cNvSpPr txBox="1"/>
          <p:nvPr/>
        </p:nvSpPr>
        <p:spPr>
          <a:xfrm>
            <a:off x="609600" y="23812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основной текст · Regular / Medium / Bold</a:t>
            </a:r>
            <a:endParaRPr lang="en-US" sz="1650" dirty="0"/>
          </a:p>
        </p:txBody>
      </p:sp>
      <p:sp>
        <p:nvSpPr>
          <p:cNvPr id="11" name="font-mono"/>
          <p:cNvSpPr txBox="1"/>
          <p:nvPr/>
        </p:nvSpPr>
        <p:spPr>
          <a:xfrm>
            <a:off x="60960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Noto Sans Mono</a:t>
            </a:r>
            <a:endParaRPr lang="en-US" sz="2400" dirty="0"/>
          </a:p>
        </p:txBody>
      </p:sp>
      <p:sp>
        <p:nvSpPr>
          <p:cNvPr id="12" name="text"/>
          <p:cNvSpPr txBox="1"/>
          <p:nvPr/>
        </p:nvSpPr>
        <p:spPr>
          <a:xfrm>
            <a:off x="609600" y="3505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идентификаторы · партии · версия</a:t>
            </a:r>
            <a:endParaRPr lang="en-US" sz="1650" dirty="0"/>
          </a:p>
        </p:txBody>
      </p:sp>
      <p:sp>
        <p:nvSpPr>
          <p:cNvPr id="13" name="bullet-1-mark"/>
          <p:cNvSpPr txBox="1"/>
          <p:nvPr/>
        </p:nvSpPr>
        <p:spPr>
          <a:xfrm>
            <a:off x="609600" y="4267200"/>
            <a:ext cx="266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350" dirty="0"/>
          </a:p>
        </p:txBody>
      </p:sp>
      <p:sp>
        <p:nvSpPr>
          <p:cNvPr id="14" name="bullet-1-text"/>
          <p:cNvSpPr txBox="1"/>
          <p:nvPr/>
        </p:nvSpPr>
        <p:spPr>
          <a:xfrm>
            <a:off x="933450" y="4267200"/>
            <a:ext cx="4533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Курсив не используется для критической информации.</a:t>
            </a:r>
            <a:endParaRPr lang="en-US" sz="1350" dirty="0"/>
          </a:p>
        </p:txBody>
      </p:sp>
      <p:sp>
        <p:nvSpPr>
          <p:cNvPr id="15" name="bullet-2-mark"/>
          <p:cNvSpPr txBox="1"/>
          <p:nvPr/>
        </p:nvSpPr>
        <p:spPr>
          <a:xfrm>
            <a:off x="609600" y="4781550"/>
            <a:ext cx="266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350" dirty="0"/>
          </a:p>
        </p:txBody>
      </p:sp>
      <p:sp>
        <p:nvSpPr>
          <p:cNvPr id="16" name="bullet-2-text"/>
          <p:cNvSpPr txBox="1"/>
          <p:nvPr/>
        </p:nvSpPr>
        <p:spPr>
          <a:xfrm>
            <a:off x="933450" y="4781550"/>
            <a:ext cx="4533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Табличные цифры включены для дозовых и количественных данных.</a:t>
            </a:r>
            <a:endParaRPr lang="en-US" sz="1350" dirty="0"/>
          </a:p>
        </p:txBody>
      </p:sp>
      <p:sp>
        <p:nvSpPr>
          <p:cNvPr id="17" name="bullet-3-mark"/>
          <p:cNvSpPr txBox="1"/>
          <p:nvPr/>
        </p:nvSpPr>
        <p:spPr>
          <a:xfrm>
            <a:off x="609600" y="5295900"/>
            <a:ext cx="266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350" dirty="0"/>
          </a:p>
        </p:txBody>
      </p:sp>
      <p:sp>
        <p:nvSpPr>
          <p:cNvPr id="18" name="bullet-3-text"/>
          <p:cNvSpPr txBox="1"/>
          <p:nvPr/>
        </p:nvSpPr>
        <p:spPr>
          <a:xfrm>
            <a:off x="933450" y="5295900"/>
            <a:ext cx="4533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Капитель — только в коротких служебных метках.</a:t>
            </a:r>
            <a:endParaRPr lang="en-US" sz="1350" dirty="0"/>
          </a:p>
        </p:txBody>
      </p:sp>
      <p:sp>
        <p:nvSpPr>
          <p:cNvPr id="19" name="text"/>
          <p:cNvSpPr txBox="1"/>
          <p:nvPr/>
        </p:nvSpPr>
        <p:spPr>
          <a:xfrm>
            <a:off x="6153150" y="188595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ТОКЕН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7715250" y="1885950"/>
            <a:ext cx="1238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PX / LH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9105900" y="188595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РОЛЬ</a:t>
            </a:r>
            <a:endParaRPr lang="en-US" sz="1200" dirty="0"/>
          </a:p>
        </p:txBody>
      </p:sp>
      <p:sp>
        <p:nvSpPr>
          <p:cNvPr id="22" name="rule"/>
          <p:cNvSpPr/>
          <p:nvPr/>
        </p:nvSpPr>
        <p:spPr>
          <a:xfrm>
            <a:off x="6153150" y="2114550"/>
            <a:ext cx="5429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6153150" y="22098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display</a:t>
            </a:r>
            <a:endParaRPr lang="en-US" sz="1500" dirty="0"/>
          </a:p>
        </p:txBody>
      </p:sp>
      <p:sp>
        <p:nvSpPr>
          <p:cNvPr id="24" name="text"/>
          <p:cNvSpPr txBox="1"/>
          <p:nvPr/>
        </p:nvSpPr>
        <p:spPr>
          <a:xfrm>
            <a:off x="7715250" y="22098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40 / 44</a:t>
            </a:r>
            <a:endParaRPr lang="en-US" sz="1500" dirty="0"/>
          </a:p>
        </p:txBody>
      </p:sp>
      <p:sp>
        <p:nvSpPr>
          <p:cNvPr id="25" name="text"/>
          <p:cNvSpPr txBox="1"/>
          <p:nvPr/>
        </p:nvSpPr>
        <p:spPr>
          <a:xfrm>
            <a:off x="9105900" y="22098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название раздела</a:t>
            </a:r>
            <a:endParaRPr lang="en-US" sz="1350" dirty="0"/>
          </a:p>
        </p:txBody>
      </p:sp>
      <p:sp>
        <p:nvSpPr>
          <p:cNvPr id="26" name="rule"/>
          <p:cNvSpPr/>
          <p:nvPr/>
        </p:nvSpPr>
        <p:spPr>
          <a:xfrm>
            <a:off x="6153150" y="2647950"/>
            <a:ext cx="5429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6153150" y="27432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</a:t>
            </a:r>
            <a:endParaRPr lang="en-US" sz="1500" dirty="0"/>
          </a:p>
        </p:txBody>
      </p:sp>
      <p:sp>
        <p:nvSpPr>
          <p:cNvPr id="28" name="text"/>
          <p:cNvSpPr txBox="1"/>
          <p:nvPr/>
        </p:nvSpPr>
        <p:spPr>
          <a:xfrm>
            <a:off x="7715250" y="27432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34</a:t>
            </a:r>
            <a:endParaRPr lang="en-US" sz="1500" dirty="0"/>
          </a:p>
        </p:txBody>
      </p:sp>
      <p:sp>
        <p:nvSpPr>
          <p:cNvPr id="29" name="text"/>
          <p:cNvSpPr txBox="1"/>
          <p:nvPr/>
        </p:nvSpPr>
        <p:spPr>
          <a:xfrm>
            <a:off x="9105900" y="27432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главный вопрос или класс</a:t>
            </a:r>
            <a:endParaRPr lang="en-US" sz="1350" dirty="0"/>
          </a:p>
        </p:txBody>
      </p:sp>
      <p:sp>
        <p:nvSpPr>
          <p:cNvPr id="30" name="rule"/>
          <p:cNvSpPr/>
          <p:nvPr/>
        </p:nvSpPr>
        <p:spPr>
          <a:xfrm>
            <a:off x="6153150" y="3181350"/>
            <a:ext cx="5429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6153150" y="32766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</a:t>
            </a:r>
            <a:endParaRPr lang="en-US" sz="1500" dirty="0"/>
          </a:p>
        </p:txBody>
      </p:sp>
      <p:sp>
        <p:nvSpPr>
          <p:cNvPr id="32" name="text"/>
          <p:cNvSpPr txBox="1"/>
          <p:nvPr/>
        </p:nvSpPr>
        <p:spPr>
          <a:xfrm>
            <a:off x="7715250" y="32766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28</a:t>
            </a:r>
            <a:endParaRPr lang="en-US" sz="1500" dirty="0"/>
          </a:p>
        </p:txBody>
      </p:sp>
      <p:sp>
        <p:nvSpPr>
          <p:cNvPr id="33" name="text"/>
          <p:cNvSpPr txBox="1"/>
          <p:nvPr/>
        </p:nvSpPr>
        <p:spPr>
          <a:xfrm>
            <a:off x="9105900" y="32766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секция</a:t>
            </a:r>
            <a:endParaRPr lang="en-US" sz="1350" dirty="0"/>
          </a:p>
        </p:txBody>
      </p:sp>
      <p:sp>
        <p:nvSpPr>
          <p:cNvPr id="34" name="rule"/>
          <p:cNvSpPr/>
          <p:nvPr/>
        </p:nvSpPr>
        <p:spPr>
          <a:xfrm>
            <a:off x="6153150" y="3714750"/>
            <a:ext cx="5429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6153150" y="38100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body</a:t>
            </a:r>
            <a:endParaRPr lang="en-US" sz="1500" dirty="0"/>
          </a:p>
        </p:txBody>
      </p:sp>
      <p:sp>
        <p:nvSpPr>
          <p:cNvPr id="36" name="text"/>
          <p:cNvSpPr txBox="1"/>
          <p:nvPr/>
        </p:nvSpPr>
        <p:spPr>
          <a:xfrm>
            <a:off x="7715250" y="38100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24</a:t>
            </a:r>
            <a:endParaRPr lang="en-US" sz="1500" dirty="0"/>
          </a:p>
        </p:txBody>
      </p:sp>
      <p:sp>
        <p:nvSpPr>
          <p:cNvPr id="37" name="text"/>
          <p:cNvSpPr txBox="1"/>
          <p:nvPr/>
        </p:nvSpPr>
        <p:spPr>
          <a:xfrm>
            <a:off x="9105900" y="38100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основной текст</a:t>
            </a:r>
            <a:endParaRPr lang="en-US" sz="1350" dirty="0"/>
          </a:p>
        </p:txBody>
      </p:sp>
      <p:sp>
        <p:nvSpPr>
          <p:cNvPr id="38" name="rule"/>
          <p:cNvSpPr/>
          <p:nvPr/>
        </p:nvSpPr>
        <p:spPr>
          <a:xfrm>
            <a:off x="6153150" y="4248150"/>
            <a:ext cx="5429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"/>
          <p:cNvSpPr txBox="1"/>
          <p:nvPr/>
        </p:nvSpPr>
        <p:spPr>
          <a:xfrm>
            <a:off x="6153150" y="43434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label</a:t>
            </a:r>
            <a:endParaRPr lang="en-US" sz="1500" dirty="0"/>
          </a:p>
        </p:txBody>
      </p:sp>
      <p:sp>
        <p:nvSpPr>
          <p:cNvPr id="40" name="text"/>
          <p:cNvSpPr txBox="1"/>
          <p:nvPr/>
        </p:nvSpPr>
        <p:spPr>
          <a:xfrm>
            <a:off x="7715250" y="43434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18</a:t>
            </a:r>
            <a:endParaRPr lang="en-US" sz="1500" dirty="0"/>
          </a:p>
        </p:txBody>
      </p:sp>
      <p:sp>
        <p:nvSpPr>
          <p:cNvPr id="41" name="text"/>
          <p:cNvSpPr txBox="1"/>
          <p:nvPr/>
        </p:nvSpPr>
        <p:spPr>
          <a:xfrm>
            <a:off x="9105900" y="43434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метка и навигация</a:t>
            </a:r>
            <a:endParaRPr lang="en-US" sz="1350" dirty="0"/>
          </a:p>
        </p:txBody>
      </p:sp>
      <p:sp>
        <p:nvSpPr>
          <p:cNvPr id="42" name="rule"/>
          <p:cNvSpPr/>
          <p:nvPr/>
        </p:nvSpPr>
        <p:spPr>
          <a:xfrm>
            <a:off x="6153150" y="4781550"/>
            <a:ext cx="5429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"/>
          <p:cNvSpPr txBox="1"/>
          <p:nvPr/>
        </p:nvSpPr>
        <p:spPr>
          <a:xfrm>
            <a:off x="6153150" y="48768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meta</a:t>
            </a:r>
            <a:endParaRPr lang="en-US" sz="1500" dirty="0"/>
          </a:p>
        </p:txBody>
      </p:sp>
      <p:sp>
        <p:nvSpPr>
          <p:cNvPr id="44" name="text"/>
          <p:cNvSpPr txBox="1"/>
          <p:nvPr/>
        </p:nvSpPr>
        <p:spPr>
          <a:xfrm>
            <a:off x="7715250" y="48768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16</a:t>
            </a:r>
            <a:endParaRPr lang="en-US" sz="1500" dirty="0"/>
          </a:p>
        </p:txBody>
      </p:sp>
      <p:sp>
        <p:nvSpPr>
          <p:cNvPr id="45" name="text"/>
          <p:cNvSpPr txBox="1"/>
          <p:nvPr/>
        </p:nvSpPr>
        <p:spPr>
          <a:xfrm>
            <a:off x="9105900" y="48768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источник, версия, партия</a:t>
            </a:r>
            <a:endParaRPr lang="en-US" sz="1350" dirty="0"/>
          </a:p>
        </p:txBody>
      </p:sp>
      <p:sp>
        <p:nvSpPr>
          <p:cNvPr id="46" name="rule"/>
          <p:cNvSpPr/>
          <p:nvPr/>
        </p:nvSpPr>
        <p:spPr>
          <a:xfrm>
            <a:off x="6153150" y="5314950"/>
            <a:ext cx="5429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"/>
          <p:cNvSpPr txBox="1"/>
          <p:nvPr/>
        </p:nvSpPr>
        <p:spPr>
          <a:xfrm>
            <a:off x="6153150" y="54102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</a:t>
            </a:r>
            <a:endParaRPr lang="en-US" sz="1500" dirty="0"/>
          </a:p>
        </p:txBody>
      </p:sp>
      <p:sp>
        <p:nvSpPr>
          <p:cNvPr id="48" name="text"/>
          <p:cNvSpPr txBox="1"/>
          <p:nvPr/>
        </p:nvSpPr>
        <p:spPr>
          <a:xfrm>
            <a:off x="7715250" y="54102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32</a:t>
            </a:r>
            <a:endParaRPr lang="en-US" sz="1500" dirty="0"/>
          </a:p>
        </p:txBody>
      </p:sp>
      <p:sp>
        <p:nvSpPr>
          <p:cNvPr id="49" name="text"/>
          <p:cNvSpPr txBox="1"/>
          <p:nvPr/>
        </p:nvSpPr>
        <p:spPr>
          <a:xfrm>
            <a:off x="9105900" y="54102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содержание и единица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 · HYPOTHESIS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Цвет работает как сигнал, а не настроение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55</a:t>
            </a:r>
            <a:endParaRPr lang="en-US" sz="1050" dirty="0"/>
          </a:p>
        </p:txBody>
      </p:sp>
      <p:sp>
        <p:nvSpPr>
          <p:cNvPr id="9" name="swatch-paper"/>
          <p:cNvSpPr/>
          <p:nvPr/>
        </p:nvSpPr>
        <p:spPr>
          <a:xfrm>
            <a:off x="609600" y="1885950"/>
            <a:ext cx="514350" cy="514350"/>
          </a:xfrm>
          <a:prstGeom prst="rect">
            <a:avLst/>
          </a:prstGeom>
          <a:solidFill>
            <a:srgbClr val="F2F0EA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1333500" y="18669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paper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3086100" y="18669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#F2F0EA</a:t>
            </a:r>
            <a:endParaRPr lang="en-US" sz="1350" dirty="0"/>
          </a:p>
        </p:txBody>
      </p:sp>
      <p:sp>
        <p:nvSpPr>
          <p:cNvPr id="12" name="text"/>
          <p:cNvSpPr txBox="1"/>
          <p:nvPr/>
        </p:nvSpPr>
        <p:spPr>
          <a:xfrm>
            <a:off x="1333500" y="215265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основной тёплый фон</a:t>
            </a:r>
            <a:endParaRPr lang="en-US" sz="1350" dirty="0"/>
          </a:p>
        </p:txBody>
      </p:sp>
      <p:sp>
        <p:nvSpPr>
          <p:cNvPr id="13" name="swatch-ink"/>
          <p:cNvSpPr/>
          <p:nvPr/>
        </p:nvSpPr>
        <p:spPr>
          <a:xfrm>
            <a:off x="609600" y="2705100"/>
            <a:ext cx="514350" cy="514350"/>
          </a:xfrm>
          <a:prstGeom prst="rect">
            <a:avLst/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1333500" y="26860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ink</a:t>
            </a:r>
            <a:endParaRPr lang="en-US" sz="1500" dirty="0"/>
          </a:p>
        </p:txBody>
      </p:sp>
      <p:sp>
        <p:nvSpPr>
          <p:cNvPr id="15" name="text"/>
          <p:cNvSpPr txBox="1"/>
          <p:nvPr/>
        </p:nvSpPr>
        <p:spPr>
          <a:xfrm>
            <a:off x="3086100" y="26860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#171717</a:t>
            </a:r>
            <a:endParaRPr lang="en-US" sz="1350" dirty="0"/>
          </a:p>
        </p:txBody>
      </p:sp>
      <p:sp>
        <p:nvSpPr>
          <p:cNvPr id="16" name="text"/>
          <p:cNvSpPr txBox="1"/>
          <p:nvPr/>
        </p:nvSpPr>
        <p:spPr>
          <a:xfrm>
            <a:off x="1333500" y="297180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основной текст</a:t>
            </a:r>
            <a:endParaRPr lang="en-US" sz="1350" dirty="0"/>
          </a:p>
        </p:txBody>
      </p:sp>
      <p:sp>
        <p:nvSpPr>
          <p:cNvPr id="17" name="swatch-muted"/>
          <p:cNvSpPr/>
          <p:nvPr/>
        </p:nvSpPr>
        <p:spPr>
          <a:xfrm>
            <a:off x="609600" y="3524250"/>
            <a:ext cx="514350" cy="514350"/>
          </a:xfrm>
          <a:prstGeom prst="rect">
            <a:avLst/>
          </a:prstGeom>
          <a:solidFill>
            <a:srgbClr val="5C5C58"/>
          </a:solidFill>
          <a:ln w="9525">
            <a:solidFill>
              <a:srgbClr val="5C5C58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1333500" y="35052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muted</a:t>
            </a:r>
            <a:endParaRPr lang="en-US" sz="1500" dirty="0"/>
          </a:p>
        </p:txBody>
      </p:sp>
      <p:sp>
        <p:nvSpPr>
          <p:cNvPr id="19" name="text"/>
          <p:cNvSpPr txBox="1"/>
          <p:nvPr/>
        </p:nvSpPr>
        <p:spPr>
          <a:xfrm>
            <a:off x="3086100" y="35052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#5C5C58</a:t>
            </a:r>
            <a:endParaRPr lang="en-US" sz="1350" dirty="0"/>
          </a:p>
        </p:txBody>
      </p:sp>
      <p:sp>
        <p:nvSpPr>
          <p:cNvPr id="20" name="text"/>
          <p:cNvSpPr txBox="1"/>
          <p:nvPr/>
        </p:nvSpPr>
        <p:spPr>
          <a:xfrm>
            <a:off x="1333500" y="379095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вторичная информация</a:t>
            </a:r>
            <a:endParaRPr lang="en-US" sz="1350" dirty="0"/>
          </a:p>
        </p:txBody>
      </p:sp>
      <p:sp>
        <p:nvSpPr>
          <p:cNvPr id="21" name="swatch-rule"/>
          <p:cNvSpPr/>
          <p:nvPr/>
        </p:nvSpPr>
        <p:spPr>
          <a:xfrm>
            <a:off x="609600" y="4343400"/>
            <a:ext cx="514350" cy="514350"/>
          </a:xfrm>
          <a:prstGeom prst="rect">
            <a:avLst/>
          </a:prstGeom>
          <a:solidFill>
            <a:srgbClr val="C9C7C0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1333500" y="43243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rule</a:t>
            </a:r>
            <a:endParaRPr lang="en-US" sz="1500" dirty="0"/>
          </a:p>
        </p:txBody>
      </p:sp>
      <p:sp>
        <p:nvSpPr>
          <p:cNvPr id="23" name="text"/>
          <p:cNvSpPr txBox="1"/>
          <p:nvPr/>
        </p:nvSpPr>
        <p:spPr>
          <a:xfrm>
            <a:off x="3086100" y="43243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#C9C7C0</a:t>
            </a:r>
            <a:endParaRPr lang="en-US" sz="1350" dirty="0"/>
          </a:p>
        </p:txBody>
      </p:sp>
      <p:sp>
        <p:nvSpPr>
          <p:cNvPr id="24" name="text"/>
          <p:cNvSpPr txBox="1"/>
          <p:nvPr/>
        </p:nvSpPr>
        <p:spPr>
          <a:xfrm>
            <a:off x="1333500" y="461010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линии и неактивные состояния</a:t>
            </a:r>
            <a:endParaRPr lang="en-US" sz="1350" dirty="0"/>
          </a:p>
        </p:txBody>
      </p:sp>
      <p:sp>
        <p:nvSpPr>
          <p:cNvPr id="25" name="swatch-critical"/>
          <p:cNvSpPr/>
          <p:nvPr/>
        </p:nvSpPr>
        <p:spPr>
          <a:xfrm>
            <a:off x="6172200" y="1885950"/>
            <a:ext cx="514350" cy="514350"/>
          </a:xfrm>
          <a:prstGeom prst="rect">
            <a:avLst/>
          </a:prstGeom>
          <a:solidFill>
            <a:srgbClr val="B42318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6896100" y="18669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critical</a:t>
            </a:r>
            <a:endParaRPr lang="en-US" sz="1500" dirty="0"/>
          </a:p>
        </p:txBody>
      </p:sp>
      <p:sp>
        <p:nvSpPr>
          <p:cNvPr id="27" name="text"/>
          <p:cNvSpPr txBox="1"/>
          <p:nvPr/>
        </p:nvSpPr>
        <p:spPr>
          <a:xfrm>
            <a:off x="8648700" y="18669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#B42318</a:t>
            </a:r>
            <a:endParaRPr lang="en-US" sz="1350" dirty="0"/>
          </a:p>
        </p:txBody>
      </p:sp>
      <p:sp>
        <p:nvSpPr>
          <p:cNvPr id="28" name="text"/>
          <p:cNvSpPr txBox="1"/>
          <p:nvPr/>
        </p:nvSpPr>
        <p:spPr>
          <a:xfrm>
            <a:off x="6896100" y="215265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немедленный риск или запрет</a:t>
            </a:r>
            <a:endParaRPr lang="en-US" sz="1350" dirty="0"/>
          </a:p>
        </p:txBody>
      </p:sp>
      <p:sp>
        <p:nvSpPr>
          <p:cNvPr id="29" name="swatch-caution"/>
          <p:cNvSpPr/>
          <p:nvPr/>
        </p:nvSpPr>
        <p:spPr>
          <a:xfrm>
            <a:off x="6172200" y="2705100"/>
            <a:ext cx="514350" cy="514350"/>
          </a:xfrm>
          <a:prstGeom prst="rect">
            <a:avLst/>
          </a:prstGeom>
          <a:solidFill>
            <a:srgbClr val="9A5B00"/>
          </a:solidFill>
          <a:ln w="9525">
            <a:solidFill>
              <a:srgbClr val="9A5B00"/>
            </a:solidFill>
            <a:prstDash val="solid"/>
          </a:ln>
        </p:spPr>
      </p:sp>
      <p:sp>
        <p:nvSpPr>
          <p:cNvPr id="30" name="text"/>
          <p:cNvSpPr txBox="1"/>
          <p:nvPr/>
        </p:nvSpPr>
        <p:spPr>
          <a:xfrm>
            <a:off x="6896100" y="26860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caution</a:t>
            </a:r>
            <a:endParaRPr lang="en-US" sz="1500" dirty="0"/>
          </a:p>
        </p:txBody>
      </p:sp>
      <p:sp>
        <p:nvSpPr>
          <p:cNvPr id="31" name="text"/>
          <p:cNvSpPr txBox="1"/>
          <p:nvPr/>
        </p:nvSpPr>
        <p:spPr>
          <a:xfrm>
            <a:off x="8648700" y="26860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#9A5B00</a:t>
            </a:r>
            <a:endParaRPr lang="en-US" sz="1350" dirty="0"/>
          </a:p>
        </p:txBody>
      </p:sp>
      <p:sp>
        <p:nvSpPr>
          <p:cNvPr id="32" name="text"/>
          <p:cNvSpPr txBox="1"/>
          <p:nvPr/>
        </p:nvSpPr>
        <p:spPr>
          <a:xfrm>
            <a:off x="6896100" y="297180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необходимость проверки</a:t>
            </a:r>
            <a:endParaRPr lang="en-US" sz="1350" dirty="0"/>
          </a:p>
        </p:txBody>
      </p:sp>
      <p:sp>
        <p:nvSpPr>
          <p:cNvPr id="33" name="swatch-information"/>
          <p:cNvSpPr/>
          <p:nvPr/>
        </p:nvSpPr>
        <p:spPr>
          <a:xfrm>
            <a:off x="6172200" y="3524250"/>
            <a:ext cx="514350" cy="514350"/>
          </a:xfrm>
          <a:prstGeom prst="rect">
            <a:avLst/>
          </a:prstGeom>
          <a:solidFill>
            <a:srgbClr val="245B78"/>
          </a:solidFill>
          <a:ln w="9525">
            <a:solidFill>
              <a:srgbClr val="245B78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6896100" y="35052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35" name="text"/>
          <p:cNvSpPr txBox="1"/>
          <p:nvPr/>
        </p:nvSpPr>
        <p:spPr>
          <a:xfrm>
            <a:off x="8648700" y="35052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#245B78</a:t>
            </a:r>
            <a:endParaRPr lang="en-US" sz="1350" dirty="0"/>
          </a:p>
        </p:txBody>
      </p:sp>
      <p:sp>
        <p:nvSpPr>
          <p:cNvPr id="36" name="text"/>
          <p:cNvSpPr txBox="1"/>
          <p:nvPr/>
        </p:nvSpPr>
        <p:spPr>
          <a:xfrm>
            <a:off x="6896100" y="379095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навигация и справка</a:t>
            </a:r>
            <a:endParaRPr lang="en-US" sz="1350" dirty="0"/>
          </a:p>
        </p:txBody>
      </p:sp>
      <p:sp>
        <p:nvSpPr>
          <p:cNvPr id="37" name="swatch-help"/>
          <p:cNvSpPr/>
          <p:nvPr/>
        </p:nvSpPr>
        <p:spPr>
          <a:xfrm>
            <a:off x="6172200" y="4343400"/>
            <a:ext cx="514350" cy="514350"/>
          </a:xfrm>
          <a:prstGeom prst="rect">
            <a:avLst/>
          </a:prstGeom>
          <a:solidFill>
            <a:srgbClr val="4B5268"/>
          </a:solidFill>
          <a:ln w="9525">
            <a:solidFill>
              <a:srgbClr val="4B5268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6896100" y="432435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help</a:t>
            </a:r>
            <a:endParaRPr lang="en-US" sz="1500" dirty="0"/>
          </a:p>
        </p:txBody>
      </p:sp>
      <p:sp>
        <p:nvSpPr>
          <p:cNvPr id="39" name="text"/>
          <p:cNvSpPr txBox="1"/>
          <p:nvPr/>
        </p:nvSpPr>
        <p:spPr>
          <a:xfrm>
            <a:off x="8648700" y="43243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#4B5268</a:t>
            </a:r>
            <a:endParaRPr lang="en-US" sz="1350" dirty="0"/>
          </a:p>
        </p:txBody>
      </p:sp>
      <p:sp>
        <p:nvSpPr>
          <p:cNvPr id="40" name="text"/>
          <p:cNvSpPr txBox="1"/>
          <p:nvPr/>
        </p:nvSpPr>
        <p:spPr>
          <a:xfrm>
            <a:off x="6896100" y="461010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путь к помощи</a:t>
            </a:r>
            <a:endParaRPr lang="en-US" sz="1350" dirty="0"/>
          </a:p>
        </p:txBody>
      </p:sp>
      <p:sp>
        <p:nvSpPr>
          <p:cNvPr id="41" name="rule"/>
          <p:cNvSpPr/>
          <p:nvPr/>
        </p:nvSpPr>
        <p:spPr>
          <a:xfrm>
            <a:off x="609600" y="53721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color-rule"/>
          <p:cNvSpPr txBox="1"/>
          <p:nvPr/>
        </p:nvSpPr>
        <p:spPr>
          <a:xfrm>
            <a:off x="609600" y="5581650"/>
            <a:ext cx="1028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Цвет всегда дублируется словом, формой или иконкой. Один экран использует не более одного активного сигнала.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Сетка делает структуру видимой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55</a:t>
            </a:r>
            <a:endParaRPr lang="en-US" sz="1050" dirty="0"/>
          </a:p>
        </p:txBody>
      </p:sp>
      <p:sp>
        <p:nvSpPr>
          <p:cNvPr id="9" name="bullet-1-mark"/>
          <p:cNvSpPr txBox="1"/>
          <p:nvPr/>
        </p:nvSpPr>
        <p:spPr>
          <a:xfrm>
            <a:off x="609600" y="1924050"/>
            <a:ext cx="266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0" name="bullet-1-text"/>
          <p:cNvSpPr txBox="1"/>
          <p:nvPr/>
        </p:nvSpPr>
        <p:spPr>
          <a:xfrm>
            <a:off x="933450" y="1924050"/>
            <a:ext cx="4248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Базовый модуль — 8 единиц.</a:t>
            </a:r>
            <a:endParaRPr lang="en-US" sz="1500" dirty="0"/>
          </a:p>
        </p:txBody>
      </p:sp>
      <p:sp>
        <p:nvSpPr>
          <p:cNvPr id="11" name="bullet-2-mark"/>
          <p:cNvSpPr txBox="1"/>
          <p:nvPr/>
        </p:nvSpPr>
        <p:spPr>
          <a:xfrm>
            <a:off x="609600" y="2552700"/>
            <a:ext cx="266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bullet-2-text"/>
          <p:cNvSpPr txBox="1"/>
          <p:nvPr/>
        </p:nvSpPr>
        <p:spPr>
          <a:xfrm>
            <a:off x="933450" y="2552700"/>
            <a:ext cx="4248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Печать строится на фиксированных зонах, digital — на 12 колонках.</a:t>
            </a:r>
            <a:endParaRPr lang="en-US" sz="1500" dirty="0"/>
          </a:p>
        </p:txBody>
      </p:sp>
      <p:sp>
        <p:nvSpPr>
          <p:cNvPr id="13" name="bullet-3-mark"/>
          <p:cNvSpPr txBox="1"/>
          <p:nvPr/>
        </p:nvSpPr>
        <p:spPr>
          <a:xfrm>
            <a:off x="609600" y="3181350"/>
            <a:ext cx="266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bullet-3-text"/>
          <p:cNvSpPr txBox="1"/>
          <p:nvPr/>
        </p:nvSpPr>
        <p:spPr>
          <a:xfrm>
            <a:off x="933450" y="3181350"/>
            <a:ext cx="4248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Выравнивание преимущественно по левому краю.</a:t>
            </a:r>
            <a:endParaRPr lang="en-US" sz="1500" dirty="0"/>
          </a:p>
        </p:txBody>
      </p:sp>
      <p:sp>
        <p:nvSpPr>
          <p:cNvPr id="15" name="bullet-4-mark"/>
          <p:cNvSpPr txBox="1"/>
          <p:nvPr/>
        </p:nvSpPr>
        <p:spPr>
          <a:xfrm>
            <a:off x="609600" y="3810000"/>
            <a:ext cx="266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bullet-4-text"/>
          <p:cNvSpPr txBox="1"/>
          <p:nvPr/>
        </p:nvSpPr>
        <p:spPr>
          <a:xfrm>
            <a:off x="933450" y="3810000"/>
            <a:ext cx="4248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Whitespace разделяет, но не создаёт luxury-эффект.</a:t>
            </a:r>
            <a:endParaRPr lang="en-US" sz="1500" dirty="0"/>
          </a:p>
        </p:txBody>
      </p:sp>
      <p:sp>
        <p:nvSpPr>
          <p:cNvPr id="17" name="bullet-5-mark"/>
          <p:cNvSpPr txBox="1"/>
          <p:nvPr/>
        </p:nvSpPr>
        <p:spPr>
          <a:xfrm>
            <a:off x="609600" y="4438650"/>
            <a:ext cx="266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bullet-5-text"/>
          <p:cNvSpPr txBox="1"/>
          <p:nvPr/>
        </p:nvSpPr>
        <p:spPr>
          <a:xfrm>
            <a:off x="933450" y="4438650"/>
            <a:ext cx="4248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Продукт, цена, наличие и производитель не получают hero-композицию.</a:t>
            </a:r>
            <a:endParaRPr lang="en-US" sz="1500" dirty="0"/>
          </a:p>
        </p:txBody>
      </p:sp>
      <p:sp>
        <p:nvSpPr>
          <p:cNvPr id="19" name="grid-field"/>
          <p:cNvSpPr/>
          <p:nvPr/>
        </p:nvSpPr>
        <p:spPr>
          <a:xfrm>
            <a:off x="5734050" y="1924050"/>
            <a:ext cx="5848350" cy="33337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0" name="grid-column-1"/>
          <p:cNvSpPr/>
          <p:nvPr/>
        </p:nvSpPr>
        <p:spPr>
          <a:xfrm>
            <a:off x="5734050" y="1924050"/>
            <a:ext cx="400050" cy="3333750"/>
          </a:xfrm>
          <a:prstGeom prst="rect">
            <a:avLst/>
          </a:prstGeom>
          <a:solidFill>
            <a:srgbClr val="D7E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grid-column-2"/>
          <p:cNvSpPr/>
          <p:nvPr/>
        </p:nvSpPr>
        <p:spPr>
          <a:xfrm>
            <a:off x="6229350" y="1924050"/>
            <a:ext cx="400050" cy="3333750"/>
          </a:xfrm>
          <a:prstGeom prst="rect">
            <a:avLst/>
          </a:prstGeom>
          <a:solidFill>
            <a:srgbClr val="D7E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grid-column-3"/>
          <p:cNvSpPr/>
          <p:nvPr/>
        </p:nvSpPr>
        <p:spPr>
          <a:xfrm>
            <a:off x="6724650" y="1924050"/>
            <a:ext cx="400050" cy="3333750"/>
          </a:xfrm>
          <a:prstGeom prst="rect">
            <a:avLst/>
          </a:prstGeom>
          <a:solidFill>
            <a:srgbClr val="D7E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grid-column-4"/>
          <p:cNvSpPr/>
          <p:nvPr/>
        </p:nvSpPr>
        <p:spPr>
          <a:xfrm>
            <a:off x="7219950" y="1924050"/>
            <a:ext cx="400050" cy="3333750"/>
          </a:xfrm>
          <a:prstGeom prst="rect">
            <a:avLst/>
          </a:prstGeom>
          <a:solidFill>
            <a:srgbClr val="D7E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grid-column-5"/>
          <p:cNvSpPr/>
          <p:nvPr/>
        </p:nvSpPr>
        <p:spPr>
          <a:xfrm>
            <a:off x="7715250" y="1924050"/>
            <a:ext cx="400050" cy="3333750"/>
          </a:xfrm>
          <a:prstGeom prst="rect">
            <a:avLst/>
          </a:prstGeom>
          <a:solidFill>
            <a:srgbClr val="D7E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grid-column-6"/>
          <p:cNvSpPr/>
          <p:nvPr/>
        </p:nvSpPr>
        <p:spPr>
          <a:xfrm>
            <a:off x="8210550" y="1924050"/>
            <a:ext cx="400050" cy="3333750"/>
          </a:xfrm>
          <a:prstGeom prst="rect">
            <a:avLst/>
          </a:prstGeom>
          <a:solidFill>
            <a:srgbClr val="D7E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grid-column-7"/>
          <p:cNvSpPr/>
          <p:nvPr/>
        </p:nvSpPr>
        <p:spPr>
          <a:xfrm>
            <a:off x="8705850" y="1924050"/>
            <a:ext cx="400050" cy="3333750"/>
          </a:xfrm>
          <a:prstGeom prst="rect">
            <a:avLst/>
          </a:prstGeom>
          <a:solidFill>
            <a:srgbClr val="D7E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grid-column-8"/>
          <p:cNvSpPr/>
          <p:nvPr/>
        </p:nvSpPr>
        <p:spPr>
          <a:xfrm>
            <a:off x="9201150" y="1924050"/>
            <a:ext cx="400050" cy="3333750"/>
          </a:xfrm>
          <a:prstGeom prst="rect">
            <a:avLst/>
          </a:prstGeom>
          <a:solidFill>
            <a:srgbClr val="E2D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grid-column-9"/>
          <p:cNvSpPr/>
          <p:nvPr/>
        </p:nvSpPr>
        <p:spPr>
          <a:xfrm>
            <a:off x="9696450" y="1924050"/>
            <a:ext cx="400050" cy="3333750"/>
          </a:xfrm>
          <a:prstGeom prst="rect">
            <a:avLst/>
          </a:prstGeom>
          <a:solidFill>
            <a:srgbClr val="E2D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grid-column-10"/>
          <p:cNvSpPr/>
          <p:nvPr/>
        </p:nvSpPr>
        <p:spPr>
          <a:xfrm>
            <a:off x="10191750" y="1924050"/>
            <a:ext cx="400050" cy="3333750"/>
          </a:xfrm>
          <a:prstGeom prst="rect">
            <a:avLst/>
          </a:prstGeom>
          <a:solidFill>
            <a:srgbClr val="E2D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grid-column-11"/>
          <p:cNvSpPr/>
          <p:nvPr/>
        </p:nvSpPr>
        <p:spPr>
          <a:xfrm>
            <a:off x="10687050" y="1924050"/>
            <a:ext cx="400050" cy="3333750"/>
          </a:xfrm>
          <a:prstGeom prst="rect">
            <a:avLst/>
          </a:prstGeom>
          <a:solidFill>
            <a:srgbClr val="E2D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grid-column-12"/>
          <p:cNvSpPr/>
          <p:nvPr/>
        </p:nvSpPr>
        <p:spPr>
          <a:xfrm>
            <a:off x="11182350" y="1924050"/>
            <a:ext cx="400050" cy="3333750"/>
          </a:xfrm>
          <a:prstGeom prst="rect">
            <a:avLst/>
          </a:prstGeom>
          <a:solidFill>
            <a:srgbClr val="E2D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5962650" y="2152650"/>
            <a:ext cx="1524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5</a:t>
            </a:r>
            <a:endParaRPr lang="en-US" sz="2400" dirty="0"/>
          </a:p>
        </p:txBody>
      </p:sp>
      <p:sp>
        <p:nvSpPr>
          <p:cNvPr id="33" name="text"/>
          <p:cNvSpPr txBox="1"/>
          <p:nvPr/>
        </p:nvSpPr>
        <p:spPr>
          <a:xfrm>
            <a:off x="5962650" y="48387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колонок · 8-unit module</a:t>
            </a:r>
            <a:endParaRPr lang="en-US" sz="1200" dirty="0"/>
          </a:p>
        </p:txBody>
      </p:sp>
      <p:sp>
        <p:nvSpPr>
          <p:cNvPr id="34" name="text"/>
          <p:cNvSpPr txBox="1"/>
          <p:nvPr/>
        </p:nvSpPr>
        <p:spPr>
          <a:xfrm>
            <a:off x="5734050" y="5562600"/>
            <a:ext cx="584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12/12 · 8/4 · 7/5 · 6/6 · 4/8 · full bleed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Форма и изображения — только по функции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55</a:t>
            </a:r>
            <a:endParaRPr lang="en-US" sz="1050" dirty="0"/>
          </a:p>
        </p:txBody>
      </p:sp>
      <p:sp>
        <p:nvSpPr>
          <p:cNvPr id="9" name="text"/>
          <p:cNvSpPr txBox="1"/>
          <p:nvPr/>
        </p:nvSpPr>
        <p:spPr>
          <a:xfrm>
            <a:off x="609600" y="1885950"/>
            <a:ext cx="5219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ФОРМА</a:t>
            </a:r>
            <a:endParaRPr lang="en-US" sz="1350" dirty="0"/>
          </a:p>
        </p:txBody>
      </p:sp>
      <p:sp>
        <p:nvSpPr>
          <p:cNvPr id="10" name="bullet-1-mark"/>
          <p:cNvSpPr txBox="1"/>
          <p:nvPr/>
        </p:nvSpPr>
        <p:spPr>
          <a:xfrm>
            <a:off x="609600" y="2324100"/>
            <a:ext cx="266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bullet-1-text"/>
          <p:cNvSpPr txBox="1"/>
          <p:nvPr/>
        </p:nvSpPr>
        <p:spPr>
          <a:xfrm>
            <a:off x="933450" y="2324100"/>
            <a:ext cx="4895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Прямоугольники, линии, таблицы и стандартные радиусы.</a:t>
            </a:r>
            <a:endParaRPr lang="en-US" sz="1500" dirty="0"/>
          </a:p>
        </p:txBody>
      </p:sp>
      <p:sp>
        <p:nvSpPr>
          <p:cNvPr id="12" name="bullet-2-mark"/>
          <p:cNvSpPr txBox="1"/>
          <p:nvPr/>
        </p:nvSpPr>
        <p:spPr>
          <a:xfrm>
            <a:off x="609600" y="2990850"/>
            <a:ext cx="266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bullet-2-text"/>
          <p:cNvSpPr txBox="1"/>
          <p:nvPr/>
        </p:nvSpPr>
        <p:spPr>
          <a:xfrm>
            <a:off x="933450" y="2990850"/>
            <a:ext cx="4895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Одна функция — один силуэт контейнера.</a:t>
            </a:r>
            <a:endParaRPr lang="en-US" sz="1500" dirty="0"/>
          </a:p>
        </p:txBody>
      </p:sp>
      <p:sp>
        <p:nvSpPr>
          <p:cNvPr id="14" name="bullet-3-mark"/>
          <p:cNvSpPr txBox="1"/>
          <p:nvPr/>
        </p:nvSpPr>
        <p:spPr>
          <a:xfrm>
            <a:off x="609600" y="3657600"/>
            <a:ext cx="266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bullet-3-text"/>
          <p:cNvSpPr txBox="1"/>
          <p:nvPr/>
        </p:nvSpPr>
        <p:spPr>
          <a:xfrm>
            <a:off x="933450" y="3657600"/>
            <a:ext cx="4895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Уникальная форма только ради безопасности, дозирования или доступности.</a:t>
            </a:r>
            <a:endParaRPr lang="en-US" sz="1500" dirty="0"/>
          </a:p>
        </p:txBody>
      </p:sp>
      <p:sp>
        <p:nvSpPr>
          <p:cNvPr id="16" name="bullet-4-mark"/>
          <p:cNvSpPr txBox="1"/>
          <p:nvPr/>
        </p:nvSpPr>
        <p:spPr>
          <a:xfrm>
            <a:off x="609600" y="4324350"/>
            <a:ext cx="266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bullet-4-text"/>
          <p:cNvSpPr txBox="1"/>
          <p:nvPr/>
        </p:nvSpPr>
        <p:spPr>
          <a:xfrm>
            <a:off x="933450" y="4324350"/>
            <a:ext cx="4895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wellness-форм, игровых pills, клубной геометрии и паттерна.</a:t>
            </a:r>
            <a:endParaRPr lang="en-US" sz="1500" dirty="0"/>
          </a:p>
        </p:txBody>
      </p:sp>
      <p:sp>
        <p:nvSpPr>
          <p:cNvPr id="18" name="rule"/>
          <p:cNvSpPr/>
          <p:nvPr/>
        </p:nvSpPr>
        <p:spPr>
          <a:xfrm>
            <a:off x="5943600" y="1885950"/>
            <a:ext cx="9525" cy="381000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286500" y="1885950"/>
            <a:ext cx="5219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ИЗОБРАЖЕНИЯ</a:t>
            </a:r>
            <a:endParaRPr lang="en-US" sz="1350" dirty="0"/>
          </a:p>
        </p:txBody>
      </p:sp>
      <p:sp>
        <p:nvSpPr>
          <p:cNvPr id="20" name="bullet-1-mark"/>
          <p:cNvSpPr txBox="1"/>
          <p:nvPr/>
        </p:nvSpPr>
        <p:spPr>
          <a:xfrm>
            <a:off x="6286500" y="2324100"/>
            <a:ext cx="266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bullet-1-text"/>
          <p:cNvSpPr txBox="1"/>
          <p:nvPr/>
        </p:nvSpPr>
        <p:spPr>
          <a:xfrm>
            <a:off x="6610350" y="2324100"/>
            <a:ext cx="4895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 продукте фотография не нужна, если достаточно текста и схемы.</a:t>
            </a:r>
            <a:endParaRPr lang="en-US" sz="1500" dirty="0"/>
          </a:p>
        </p:txBody>
      </p:sp>
      <p:sp>
        <p:nvSpPr>
          <p:cNvPr id="22" name="bullet-2-mark"/>
          <p:cNvSpPr txBox="1"/>
          <p:nvPr/>
        </p:nvSpPr>
        <p:spPr>
          <a:xfrm>
            <a:off x="6286500" y="2971800"/>
            <a:ext cx="266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bullet-2-text"/>
          <p:cNvSpPr txBox="1"/>
          <p:nvPr/>
        </p:nvSpPr>
        <p:spPr>
          <a:xfrm>
            <a:off x="6610350" y="2971800"/>
            <a:ext cx="4895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ритуалов, вечеринок, природы, glam и sensual macro.</a:t>
            </a:r>
            <a:endParaRPr lang="en-US" sz="1500" dirty="0"/>
          </a:p>
        </p:txBody>
      </p:sp>
      <p:sp>
        <p:nvSpPr>
          <p:cNvPr id="24" name="bullet-3-mark"/>
          <p:cNvSpPr txBox="1"/>
          <p:nvPr/>
        </p:nvSpPr>
        <p:spPr>
          <a:xfrm>
            <a:off x="6286500" y="3619500"/>
            <a:ext cx="266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5" name="bullet-3-text"/>
          <p:cNvSpPr txBox="1"/>
          <p:nvPr/>
        </p:nvSpPr>
        <p:spPr>
          <a:xfrm>
            <a:off x="6610350" y="3619500"/>
            <a:ext cx="4895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 отчёте допустима документальная фотография с информационной подписью.</a:t>
            </a:r>
            <a:endParaRPr lang="en-US" sz="1500" dirty="0"/>
          </a:p>
        </p:txBody>
      </p:sp>
      <p:sp>
        <p:nvSpPr>
          <p:cNvPr id="26" name="visual-placeholder"/>
          <p:cNvSpPr/>
          <p:nvPr/>
        </p:nvSpPr>
        <p:spPr>
          <a:xfrm>
            <a:off x="6286500" y="4438650"/>
            <a:ext cx="5219700" cy="1428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7" name="placeholder-label"/>
          <p:cNvSpPr txBox="1"/>
          <p:nvPr/>
        </p:nvSpPr>
        <p:spPr>
          <a:xfrm>
            <a:off x="6515100" y="459105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PLACEHOLDER</a:t>
            </a:r>
            <a:endParaRPr lang="en-US" sz="1050" dirty="0"/>
          </a:p>
        </p:txBody>
      </p:sp>
      <p:sp>
        <p:nvSpPr>
          <p:cNvPr id="28" name="placeholder-description"/>
          <p:cNvSpPr txBox="1"/>
          <p:nvPr/>
        </p:nvSpPr>
        <p:spPr>
          <a:xfrm>
            <a:off x="6515100" y="4895850"/>
            <a:ext cx="4762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Документальный кадр системы, работника или городской среды</a:t>
            </a:r>
            <a:endParaRPr lang="en-US" sz="1425" dirty="0"/>
          </a:p>
        </p:txBody>
      </p:sp>
      <p:sp>
        <p:nvSpPr>
          <p:cNvPr id="29" name="placeholder-meta"/>
          <p:cNvSpPr txBox="1"/>
          <p:nvPr/>
        </p:nvSpPr>
        <p:spPr>
          <a:xfrm>
            <a:off x="6515100" y="56388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7:2 · заменить без lifestyle-кода и product hero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Служебный знак показывает версию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55</a:t>
            </a:r>
            <a:endParaRPr lang="en-US" sz="1050" dirty="0"/>
          </a:p>
        </p:txBody>
      </p:sp>
      <p:sp>
        <p:nvSpPr>
          <p:cNvPr id="9" name="system-sign"/>
          <p:cNvSpPr/>
          <p:nvPr/>
        </p:nvSpPr>
        <p:spPr>
          <a:xfrm>
            <a:off x="609600" y="2038350"/>
            <a:ext cx="6572250" cy="112395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71717"/>
            </a:solidFill>
            <a:prstDash val="solid"/>
          </a:ln>
        </p:spPr>
      </p:sp>
      <p:sp>
        <p:nvSpPr>
          <p:cNvPr id="10" name="system-sign-text"/>
          <p:cNvSpPr txBox="1"/>
          <p:nvPr/>
        </p:nvSpPr>
        <p:spPr>
          <a:xfrm>
            <a:off x="895350" y="2381250"/>
            <a:ext cx="600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425" dirty="0"/>
          </a:p>
        </p:txBody>
      </p:sp>
      <p:sp>
        <p:nvSpPr>
          <p:cNvPr id="11" name="sign-meaning"/>
          <p:cNvSpPr txBox="1"/>
          <p:nvPr/>
        </p:nvSpPr>
        <p:spPr>
          <a:xfrm>
            <a:off x="609600" y="3562350"/>
            <a:ext cx="6572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Знак означает версию протокола, а не безопасность продукта.</a:t>
            </a:r>
            <a:endParaRPr lang="en-US" sz="2400" dirty="0"/>
          </a:p>
        </p:txBody>
      </p:sp>
      <p:sp>
        <p:nvSpPr>
          <p:cNvPr id="12" name="sign-companion"/>
          <p:cNvSpPr txBox="1"/>
          <p:nvPr/>
        </p:nvSpPr>
        <p:spPr>
          <a:xfrm>
            <a:off x="609600" y="4438650"/>
            <a:ext cx="6572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 потребительской стороне: «регулируемый канал / проверяемая партия / риск сохраняется».</a:t>
            </a:r>
            <a:endParaRPr lang="en-US" sz="1650" dirty="0"/>
          </a:p>
        </p:txBody>
      </p:sp>
      <p:sp>
        <p:nvSpPr>
          <p:cNvPr id="13" name="bullet-1-mark"/>
          <p:cNvSpPr txBox="1"/>
          <p:nvPr/>
        </p:nvSpPr>
        <p:spPr>
          <a:xfrm>
            <a:off x="7867650" y="205740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bullet-1-text"/>
          <p:cNvSpPr txBox="1"/>
          <p:nvPr/>
        </p:nvSpPr>
        <p:spPr>
          <a:xfrm>
            <a:off x="8191500" y="2057400"/>
            <a:ext cx="33909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меньше родового имени и критического риска</a:t>
            </a:r>
            <a:endParaRPr lang="en-US" sz="1500" dirty="0"/>
          </a:p>
        </p:txBody>
      </p:sp>
      <p:sp>
        <p:nvSpPr>
          <p:cNvPr id="15" name="bullet-2-mark"/>
          <p:cNvSpPr txBox="1"/>
          <p:nvPr/>
        </p:nvSpPr>
        <p:spPr>
          <a:xfrm>
            <a:off x="7867650" y="276225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bullet-2-text"/>
          <p:cNvSpPr txBox="1"/>
          <p:nvPr/>
        </p:nvSpPr>
        <p:spPr>
          <a:xfrm>
            <a:off x="8191500" y="2762250"/>
            <a:ext cx="33909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используется на мерче</a:t>
            </a:r>
            <a:endParaRPr lang="en-US" sz="1500" dirty="0"/>
          </a:p>
        </p:txBody>
      </p:sp>
      <p:sp>
        <p:nvSpPr>
          <p:cNvPr id="17" name="bullet-3-mark"/>
          <p:cNvSpPr txBox="1"/>
          <p:nvPr/>
        </p:nvSpPr>
        <p:spPr>
          <a:xfrm>
            <a:off x="7867650" y="346710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bullet-3-text"/>
          <p:cNvSpPr txBox="1"/>
          <p:nvPr/>
        </p:nvSpPr>
        <p:spPr>
          <a:xfrm>
            <a:off x="8191500" y="3467100"/>
            <a:ext cx="33909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анимируется и не становится паттерном</a:t>
            </a:r>
            <a:endParaRPr lang="en-US" sz="1500" dirty="0"/>
          </a:p>
        </p:txBody>
      </p:sp>
      <p:sp>
        <p:nvSpPr>
          <p:cNvPr id="19" name="bullet-4-mark"/>
          <p:cNvSpPr txBox="1"/>
          <p:nvPr/>
        </p:nvSpPr>
        <p:spPr>
          <a:xfrm>
            <a:off x="7867650" y="417195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bullet-4-text"/>
          <p:cNvSpPr txBox="1"/>
          <p:nvPr/>
        </p:nvSpPr>
        <p:spPr>
          <a:xfrm>
            <a:off x="8191500" y="4171950"/>
            <a:ext cx="33909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заменяет государственную или юридическую маркировку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Motion помогает проследить изменение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55</a:t>
            </a:r>
            <a:endParaRPr lang="en-US" sz="1050" dirty="0"/>
          </a:p>
        </p:txBody>
      </p:sp>
      <p:sp>
        <p:nvSpPr>
          <p:cNvPr id="9" name="motion-start"/>
          <p:cNvSpPr txBox="1"/>
          <p:nvPr/>
        </p:nvSpPr>
        <p:spPr>
          <a:xfrm>
            <a:off x="609600" y="2000250"/>
            <a:ext cx="1619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120</a:t>
            </a:r>
            <a:endParaRPr lang="en-US" sz="4800" dirty="0"/>
          </a:p>
        </p:txBody>
      </p:sp>
      <p:sp>
        <p:nvSpPr>
          <p:cNvPr id="10" name="text"/>
          <p:cNvSpPr txBox="1"/>
          <p:nvPr/>
        </p:nvSpPr>
        <p:spPr>
          <a:xfrm>
            <a:off x="2057400" y="209550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C9C7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3300" dirty="0"/>
          </a:p>
        </p:txBody>
      </p:sp>
      <p:sp>
        <p:nvSpPr>
          <p:cNvPr id="11" name="motion-end"/>
          <p:cNvSpPr txBox="1"/>
          <p:nvPr/>
        </p:nvSpPr>
        <p:spPr>
          <a:xfrm>
            <a:off x="2914650" y="2000250"/>
            <a:ext cx="2476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200 ms</a:t>
            </a:r>
            <a:endParaRPr lang="en-US" sz="4800" dirty="0"/>
          </a:p>
        </p:txBody>
      </p:sp>
      <p:sp>
        <p:nvSpPr>
          <p:cNvPr id="12" name="text"/>
          <p:cNvSpPr txBox="1"/>
          <p:nvPr/>
        </p:nvSpPr>
        <p:spPr>
          <a:xfrm>
            <a:off x="609600" y="2800350"/>
            <a:ext cx="4953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короткий функциональный переход · без spring / bounce</a:t>
            </a:r>
            <a:endParaRPr lang="en-US" sz="1650" dirty="0"/>
          </a:p>
        </p:txBody>
      </p:sp>
      <p:sp>
        <p:nvSpPr>
          <p:cNvPr id="13" name="text"/>
          <p:cNvSpPr txBox="1"/>
          <p:nvPr/>
        </p:nvSpPr>
        <p:spPr>
          <a:xfrm>
            <a:off x="609600" y="382905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ДОПУСТИМО</a:t>
            </a:r>
            <a:endParaRPr lang="en-US" sz="1350" dirty="0"/>
          </a:p>
        </p:txBody>
      </p:sp>
      <p:sp>
        <p:nvSpPr>
          <p:cNvPr id="14" name="bullet-1-mark"/>
          <p:cNvSpPr txBox="1"/>
          <p:nvPr/>
        </p:nvSpPr>
        <p:spPr>
          <a:xfrm>
            <a:off x="609600" y="4229100"/>
            <a:ext cx="2667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bullet-1-text"/>
          <p:cNvSpPr txBox="1"/>
          <p:nvPr/>
        </p:nvSpPr>
        <p:spPr>
          <a:xfrm>
            <a:off x="933450" y="4229100"/>
            <a:ext cx="4343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однократное критическое изменение, затем статика</a:t>
            </a:r>
            <a:endParaRPr lang="en-US" sz="1500" dirty="0"/>
          </a:p>
        </p:txBody>
      </p:sp>
      <p:sp>
        <p:nvSpPr>
          <p:cNvPr id="16" name="bullet-2-mark"/>
          <p:cNvSpPr txBox="1"/>
          <p:nvPr/>
        </p:nvSpPr>
        <p:spPr>
          <a:xfrm>
            <a:off x="609600" y="4781550"/>
            <a:ext cx="2667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bullet-2-text"/>
          <p:cNvSpPr txBox="1"/>
          <p:nvPr/>
        </p:nvSpPr>
        <p:spPr>
          <a:xfrm>
            <a:off x="933450" y="4781550"/>
            <a:ext cx="4343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motion по умолчанию</a:t>
            </a:r>
            <a:endParaRPr lang="en-US" sz="1500" dirty="0"/>
          </a:p>
        </p:txBody>
      </p:sp>
      <p:sp>
        <p:nvSpPr>
          <p:cNvPr id="18" name="text"/>
          <p:cNvSpPr txBox="1"/>
          <p:nvPr/>
        </p:nvSpPr>
        <p:spPr>
          <a:xfrm>
            <a:off x="6286500" y="200025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423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НЕ ДОПУСКАЕТСЯ</a:t>
            </a:r>
            <a:endParaRPr lang="en-US" sz="1350" dirty="0"/>
          </a:p>
        </p:txBody>
      </p:sp>
      <p:sp>
        <p:nvSpPr>
          <p:cNvPr id="19" name="bullet-1-mark"/>
          <p:cNvSpPr txBox="1"/>
          <p:nvPr/>
        </p:nvSpPr>
        <p:spPr>
          <a:xfrm>
            <a:off x="6286500" y="2438400"/>
            <a:ext cx="2667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20" name="bullet-1-text"/>
          <p:cNvSpPr txBox="1"/>
          <p:nvPr/>
        </p:nvSpPr>
        <p:spPr>
          <a:xfrm>
            <a:off x="6610350" y="2438400"/>
            <a:ext cx="49720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autoplay и бесконечные циклы</a:t>
            </a:r>
            <a:endParaRPr lang="en-US" sz="1650" dirty="0"/>
          </a:p>
        </p:txBody>
      </p:sp>
      <p:sp>
        <p:nvSpPr>
          <p:cNvPr id="21" name="bullet-2-mark"/>
          <p:cNvSpPr txBox="1"/>
          <p:nvPr/>
        </p:nvSpPr>
        <p:spPr>
          <a:xfrm>
            <a:off x="6286500" y="3219450"/>
            <a:ext cx="2667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22" name="bullet-2-text"/>
          <p:cNvSpPr txBox="1"/>
          <p:nvPr/>
        </p:nvSpPr>
        <p:spPr>
          <a:xfrm>
            <a:off x="6610350" y="3219450"/>
            <a:ext cx="49720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параллакс и product reveal</a:t>
            </a:r>
            <a:endParaRPr lang="en-US" sz="1650" dirty="0"/>
          </a:p>
        </p:txBody>
      </p:sp>
      <p:sp>
        <p:nvSpPr>
          <p:cNvPr id="23" name="bullet-3-mark"/>
          <p:cNvSpPr txBox="1"/>
          <p:nvPr/>
        </p:nvSpPr>
        <p:spPr>
          <a:xfrm>
            <a:off x="6286500" y="4000500"/>
            <a:ext cx="2667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24" name="bullet-3-text"/>
          <p:cNvSpPr txBox="1"/>
          <p:nvPr/>
        </p:nvSpPr>
        <p:spPr>
          <a:xfrm>
            <a:off x="6610350" y="4000500"/>
            <a:ext cx="49720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таймеры и обратный отсчёт вне реальной безопасности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luxury и не punitive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55</a:t>
            </a:r>
            <a:endParaRPr lang="en-US" sz="1050" dirty="0"/>
          </a:p>
        </p:txBody>
      </p:sp>
      <p:sp>
        <p:nvSpPr>
          <p:cNvPr id="9" name="text"/>
          <p:cNvSpPr txBox="1"/>
          <p:nvPr/>
        </p:nvSpPr>
        <p:spPr>
          <a:xfrm>
            <a:off x="609600" y="1924050"/>
            <a:ext cx="5219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НЕ LUXURY</a:t>
            </a:r>
            <a:endParaRPr lang="en-US" sz="2400" dirty="0"/>
          </a:p>
        </p:txBody>
      </p:sp>
      <p:sp>
        <p:nvSpPr>
          <p:cNvPr id="10" name="bullet-1-mark"/>
          <p:cNvSpPr txBox="1"/>
          <p:nvPr/>
        </p:nvSpPr>
        <p:spPr>
          <a:xfrm>
            <a:off x="609600" y="2647950"/>
            <a:ext cx="266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1" name="bullet-1-text"/>
          <p:cNvSpPr txBox="1"/>
          <p:nvPr/>
        </p:nvSpPr>
        <p:spPr>
          <a:xfrm>
            <a:off x="933450" y="26479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фольги, стеклянного театра, soft-touch и чёрного на чёрном</a:t>
            </a:r>
            <a:endParaRPr lang="en-US" sz="1650" dirty="0"/>
          </a:p>
        </p:txBody>
      </p:sp>
      <p:sp>
        <p:nvSpPr>
          <p:cNvPr id="12" name="bullet-2-mark"/>
          <p:cNvSpPr txBox="1"/>
          <p:nvPr/>
        </p:nvSpPr>
        <p:spPr>
          <a:xfrm>
            <a:off x="609600" y="3600450"/>
            <a:ext cx="266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3" name="bullet-2-text"/>
          <p:cNvSpPr txBox="1"/>
          <p:nvPr/>
        </p:nvSpPr>
        <p:spPr>
          <a:xfrm>
            <a:off x="933450" y="36004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гигантского воздуха и музейного пьедестала</a:t>
            </a:r>
            <a:endParaRPr lang="en-US" sz="1650" dirty="0"/>
          </a:p>
        </p:txBody>
      </p:sp>
      <p:sp>
        <p:nvSpPr>
          <p:cNvPr id="14" name="bullet-3-mark"/>
          <p:cNvSpPr txBox="1"/>
          <p:nvPr/>
        </p:nvSpPr>
        <p:spPr>
          <a:xfrm>
            <a:off x="609600" y="4552950"/>
            <a:ext cx="266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5" name="bullet-3-text"/>
          <p:cNvSpPr txBox="1"/>
          <p:nvPr/>
        </p:nvSpPr>
        <p:spPr>
          <a:xfrm>
            <a:off x="933450" y="45529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кастомного предмета ради желания</a:t>
            </a:r>
            <a:endParaRPr lang="en-US" sz="1650" dirty="0"/>
          </a:p>
        </p:txBody>
      </p:sp>
      <p:sp>
        <p:nvSpPr>
          <p:cNvPr id="16" name="rule"/>
          <p:cNvSpPr/>
          <p:nvPr/>
        </p:nvSpPr>
        <p:spPr>
          <a:xfrm>
            <a:off x="5943600" y="1885950"/>
            <a:ext cx="9525" cy="382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"/>
          <p:cNvSpPr txBox="1"/>
          <p:nvPr/>
        </p:nvSpPr>
        <p:spPr>
          <a:xfrm>
            <a:off x="6286500" y="1924050"/>
            <a:ext cx="5219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НЕ PUNITIVE</a:t>
            </a:r>
            <a:endParaRPr lang="en-US" sz="2400" dirty="0"/>
          </a:p>
        </p:txBody>
      </p:sp>
      <p:sp>
        <p:nvSpPr>
          <p:cNvPr id="18" name="bullet-1-mark"/>
          <p:cNvSpPr txBox="1"/>
          <p:nvPr/>
        </p:nvSpPr>
        <p:spPr>
          <a:xfrm>
            <a:off x="6286500" y="2647950"/>
            <a:ext cx="266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9" name="bullet-1-text"/>
          <p:cNvSpPr txBox="1"/>
          <p:nvPr/>
        </p:nvSpPr>
        <p:spPr>
          <a:xfrm>
            <a:off x="6610350" y="26479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грязно-серой намеренной убогости, решёток и красного залитого поля</a:t>
            </a:r>
            <a:endParaRPr lang="en-US" sz="1650" dirty="0"/>
          </a:p>
        </p:txBody>
      </p:sp>
      <p:sp>
        <p:nvSpPr>
          <p:cNvPr id="20" name="bullet-2-mark"/>
          <p:cNvSpPr txBox="1"/>
          <p:nvPr/>
        </p:nvSpPr>
        <p:spPr>
          <a:xfrm>
            <a:off x="6286500" y="3600450"/>
            <a:ext cx="266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21" name="bullet-2-text"/>
          <p:cNvSpPr txBox="1"/>
          <p:nvPr/>
        </p:nvSpPr>
        <p:spPr>
          <a:xfrm>
            <a:off x="6610350" y="36004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мелкого текста и намеренной сложности</a:t>
            </a:r>
            <a:endParaRPr lang="en-US" sz="1650" dirty="0"/>
          </a:p>
        </p:txBody>
      </p:sp>
      <p:sp>
        <p:nvSpPr>
          <p:cNvPr id="22" name="bullet-3-mark"/>
          <p:cNvSpPr txBox="1"/>
          <p:nvPr/>
        </p:nvSpPr>
        <p:spPr>
          <a:xfrm>
            <a:off x="6286500" y="4552950"/>
            <a:ext cx="266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23" name="bullet-3-text"/>
          <p:cNvSpPr txBox="1"/>
          <p:nvPr/>
        </p:nvSpPr>
        <p:spPr>
          <a:xfrm>
            <a:off x="6610350" y="45529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барьера ради демонстрации строгости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SYSTEM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Узнаваемость создаёт порядок данных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55</a:t>
            </a:r>
            <a:endParaRPr lang="en-US" sz="1050" dirty="0"/>
          </a:p>
        </p:txBody>
      </p:sp>
      <p:sp>
        <p:nvSpPr>
          <p:cNvPr id="9" name="grammar-1"/>
          <p:cNvSpPr/>
          <p:nvPr/>
        </p:nvSpPr>
        <p:spPr>
          <a:xfrm>
            <a:off x="609600" y="2324100"/>
            <a:ext cx="2600325" cy="8382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0" name="grammar-1-text"/>
          <p:cNvSpPr txBox="1"/>
          <p:nvPr/>
        </p:nvSpPr>
        <p:spPr>
          <a:xfrm>
            <a:off x="781050" y="2476500"/>
            <a:ext cx="2257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родовой класс</a:t>
            </a:r>
            <a:endParaRPr lang="en-US" sz="1575" dirty="0"/>
          </a:p>
        </p:txBody>
      </p:sp>
      <p:sp>
        <p:nvSpPr>
          <p:cNvPr id="11" name="grammar-arrow-1"/>
          <p:cNvSpPr txBox="1"/>
          <p:nvPr/>
        </p:nvSpPr>
        <p:spPr>
          <a:xfrm>
            <a:off x="3209925" y="2552700"/>
            <a:ext cx="19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50" dirty="0"/>
          </a:p>
        </p:txBody>
      </p:sp>
      <p:sp>
        <p:nvSpPr>
          <p:cNvPr id="12" name="grammar-2"/>
          <p:cNvSpPr/>
          <p:nvPr/>
        </p:nvSpPr>
        <p:spPr>
          <a:xfrm>
            <a:off x="3400425" y="2324100"/>
            <a:ext cx="2600325" cy="8382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3" name="grammar-2-text"/>
          <p:cNvSpPr txBox="1"/>
          <p:nvPr/>
        </p:nvSpPr>
        <p:spPr>
          <a:xfrm>
            <a:off x="3571875" y="2476500"/>
            <a:ext cx="2257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активное содержание</a:t>
            </a:r>
            <a:endParaRPr lang="en-US" sz="1425" dirty="0"/>
          </a:p>
        </p:txBody>
      </p:sp>
      <p:sp>
        <p:nvSpPr>
          <p:cNvPr id="14" name="grammar-arrow-2"/>
          <p:cNvSpPr txBox="1"/>
          <p:nvPr/>
        </p:nvSpPr>
        <p:spPr>
          <a:xfrm>
            <a:off x="6000750" y="2552700"/>
            <a:ext cx="19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50" dirty="0"/>
          </a:p>
        </p:txBody>
      </p:sp>
      <p:sp>
        <p:nvSpPr>
          <p:cNvPr id="15" name="grammar-3"/>
          <p:cNvSpPr/>
          <p:nvPr/>
        </p:nvSpPr>
        <p:spPr>
          <a:xfrm>
            <a:off x="6191250" y="2324100"/>
            <a:ext cx="2600325" cy="8382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6" name="grammar-3-text"/>
          <p:cNvSpPr txBox="1"/>
          <p:nvPr/>
        </p:nvSpPr>
        <p:spPr>
          <a:xfrm>
            <a:off x="6362700" y="2476500"/>
            <a:ext cx="2257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единица</a:t>
            </a:r>
            <a:endParaRPr lang="en-US" sz="1575" dirty="0"/>
          </a:p>
        </p:txBody>
      </p:sp>
      <p:sp>
        <p:nvSpPr>
          <p:cNvPr id="17" name="grammar-arrow-3"/>
          <p:cNvSpPr txBox="1"/>
          <p:nvPr/>
        </p:nvSpPr>
        <p:spPr>
          <a:xfrm>
            <a:off x="8791575" y="2552700"/>
            <a:ext cx="19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50" dirty="0"/>
          </a:p>
        </p:txBody>
      </p:sp>
      <p:sp>
        <p:nvSpPr>
          <p:cNvPr id="18" name="grammar-4"/>
          <p:cNvSpPr/>
          <p:nvPr/>
        </p:nvSpPr>
        <p:spPr>
          <a:xfrm>
            <a:off x="8982075" y="2324100"/>
            <a:ext cx="2600325" cy="838200"/>
          </a:xfrm>
          <a:prstGeom prst="rect">
            <a:avLst/>
          </a:prstGeom>
          <a:solidFill>
            <a:srgbClr val="245B78"/>
          </a:solidFill>
          <a:ln w="9525">
            <a:solidFill>
              <a:srgbClr val="245B78"/>
            </a:solidFill>
            <a:prstDash val="solid"/>
          </a:ln>
        </p:spPr>
      </p:sp>
      <p:sp>
        <p:nvSpPr>
          <p:cNvPr id="19" name="grammar-4-text"/>
          <p:cNvSpPr txBox="1"/>
          <p:nvPr/>
        </p:nvSpPr>
        <p:spPr>
          <a:xfrm>
            <a:off x="9153525" y="2476500"/>
            <a:ext cx="2257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главный риск</a:t>
            </a:r>
            <a:endParaRPr lang="en-US" sz="1575" dirty="0"/>
          </a:p>
        </p:txBody>
      </p:sp>
      <p:sp>
        <p:nvSpPr>
          <p:cNvPr id="20" name="grammar-5"/>
          <p:cNvSpPr/>
          <p:nvPr/>
        </p:nvSpPr>
        <p:spPr>
          <a:xfrm>
            <a:off x="609600" y="3714750"/>
            <a:ext cx="2616200" cy="8382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1" name="grammar-5-text"/>
          <p:cNvSpPr txBox="1"/>
          <p:nvPr/>
        </p:nvSpPr>
        <p:spPr>
          <a:xfrm>
            <a:off x="781050" y="3867150"/>
            <a:ext cx="2273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режим</a:t>
            </a:r>
            <a:endParaRPr lang="en-US" sz="1575" dirty="0"/>
          </a:p>
        </p:txBody>
      </p:sp>
      <p:sp>
        <p:nvSpPr>
          <p:cNvPr id="22" name="grammar-arrow-5"/>
          <p:cNvSpPr txBox="1"/>
          <p:nvPr/>
        </p:nvSpPr>
        <p:spPr>
          <a:xfrm>
            <a:off x="3225800" y="3943350"/>
            <a:ext cx="19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50" dirty="0"/>
          </a:p>
        </p:txBody>
      </p:sp>
      <p:sp>
        <p:nvSpPr>
          <p:cNvPr id="23" name="grammar-6"/>
          <p:cNvSpPr/>
          <p:nvPr/>
        </p:nvSpPr>
        <p:spPr>
          <a:xfrm>
            <a:off x="3416300" y="3714750"/>
            <a:ext cx="2616200" cy="8382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4" name="grammar-6-text"/>
          <p:cNvSpPr txBox="1"/>
          <p:nvPr/>
        </p:nvSpPr>
        <p:spPr>
          <a:xfrm>
            <a:off x="3587750" y="3867150"/>
            <a:ext cx="2273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версия</a:t>
            </a:r>
            <a:endParaRPr lang="en-US" sz="1575" dirty="0"/>
          </a:p>
        </p:txBody>
      </p:sp>
      <p:sp>
        <p:nvSpPr>
          <p:cNvPr id="25" name="grammar-arrow-6"/>
          <p:cNvSpPr txBox="1"/>
          <p:nvPr/>
        </p:nvSpPr>
        <p:spPr>
          <a:xfrm>
            <a:off x="6032500" y="3943350"/>
            <a:ext cx="19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50" dirty="0"/>
          </a:p>
        </p:txBody>
      </p:sp>
      <p:sp>
        <p:nvSpPr>
          <p:cNvPr id="26" name="grammar-7"/>
          <p:cNvSpPr/>
          <p:nvPr/>
        </p:nvSpPr>
        <p:spPr>
          <a:xfrm>
            <a:off x="6223000" y="3714750"/>
            <a:ext cx="2616200" cy="8382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7" name="grammar-7-text"/>
          <p:cNvSpPr txBox="1"/>
          <p:nvPr/>
        </p:nvSpPr>
        <p:spPr>
          <a:xfrm>
            <a:off x="6394450" y="3867150"/>
            <a:ext cx="2273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помощь</a:t>
            </a:r>
            <a:endParaRPr lang="en-US" sz="1575" dirty="0"/>
          </a:p>
        </p:txBody>
      </p:sp>
      <p:sp>
        <p:nvSpPr>
          <p:cNvPr id="28" name="grammar-conclusion"/>
          <p:cNvSpPr txBox="1"/>
          <p:nvPr/>
        </p:nvSpPr>
        <p:spPr>
          <a:xfrm>
            <a:off x="609600" y="5143500"/>
            <a:ext cx="971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Именно эта грамматика, а не декоративный код, является идентичностью системы.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5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51435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PROTOTYPE SCOPE V0.1</a:t>
            </a:r>
            <a:endParaRPr lang="en-US" sz="1350" dirty="0"/>
          </a:p>
        </p:txBody>
      </p:sp>
      <p:sp>
        <p:nvSpPr>
          <p:cNvPr id="3" name="section-title"/>
          <p:cNvSpPr txBox="1"/>
          <p:nvPr/>
        </p:nvSpPr>
        <p:spPr>
          <a:xfrm>
            <a:off x="609600" y="1847850"/>
            <a:ext cx="952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MVP Prototype</a:t>
            </a:r>
            <a:endParaRPr lang="en-US" sz="5400" dirty="0"/>
          </a:p>
        </p:txBody>
      </p:sp>
      <p:sp>
        <p:nvSpPr>
          <p:cNvPr id="4" name="section-subtitle"/>
          <p:cNvSpPr txBox="1"/>
          <p:nvPr/>
        </p:nvSpPr>
        <p:spPr>
          <a:xfrm>
            <a:off x="609600" y="3162300"/>
            <a:ext cx="8858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 связный опыт — от функции точки до помощи и проверки партии.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6B87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55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мы проверяем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55</a:t>
            </a:r>
            <a:endParaRPr lang="en-US" sz="1050" dirty="0"/>
          </a:p>
        </p:txBody>
      </p:sp>
      <p:sp>
        <p:nvSpPr>
          <p:cNvPr id="9" name="text"/>
          <p:cNvSpPr txBox="1"/>
          <p:nvPr/>
        </p:nvSpPr>
        <p:spPr>
          <a:xfrm>
            <a:off x="609600" y="1847850"/>
            <a:ext cx="10001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«нравится ли стиль», а возможно ли создать цельный опыт, который:</a:t>
            </a:r>
            <a:endParaRPr lang="en-US" sz="1650" dirty="0"/>
          </a:p>
        </p:txBody>
      </p:sp>
      <p:sp>
        <p:nvSpPr>
          <p:cNvPr id="10" name="text"/>
          <p:cNvSpPr txBox="1"/>
          <p:nvPr/>
        </p:nvSpPr>
        <p:spPr>
          <a:xfrm>
            <a:off x="609600" y="2457450"/>
            <a:ext cx="51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st-1"/>
          <p:cNvSpPr txBox="1"/>
          <p:nvPr/>
        </p:nvSpPr>
        <p:spPr>
          <a:xfrm>
            <a:off x="1276350" y="2438400"/>
            <a:ext cx="971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лучше коммерческого интерфейса объясняет продукт и риск</a:t>
            </a:r>
            <a:endParaRPr lang="en-US" sz="1650" dirty="0"/>
          </a:p>
        </p:txBody>
      </p:sp>
      <p:sp>
        <p:nvSpPr>
          <p:cNvPr id="12" name="rule"/>
          <p:cNvSpPr/>
          <p:nvPr/>
        </p:nvSpPr>
        <p:spPr>
          <a:xfrm>
            <a:off x="1276350" y="2933700"/>
            <a:ext cx="9715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609600" y="3143250"/>
            <a:ext cx="51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350" dirty="0"/>
          </a:p>
        </p:txBody>
      </p:sp>
      <p:sp>
        <p:nvSpPr>
          <p:cNvPr id="14" name="test-2"/>
          <p:cNvSpPr txBox="1"/>
          <p:nvPr/>
        </p:nvSpPr>
        <p:spPr>
          <a:xfrm>
            <a:off x="1276350" y="3124200"/>
            <a:ext cx="971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увеличивает желание и статус</a:t>
            </a:r>
            <a:endParaRPr lang="en-US" sz="1650" dirty="0"/>
          </a:p>
        </p:txBody>
      </p:sp>
      <p:sp>
        <p:nvSpPr>
          <p:cNvPr id="15" name="rule"/>
          <p:cNvSpPr/>
          <p:nvPr/>
        </p:nvSpPr>
        <p:spPr>
          <a:xfrm>
            <a:off x="1276350" y="3619500"/>
            <a:ext cx="9715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609600" y="3829050"/>
            <a:ext cx="51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test-3"/>
          <p:cNvSpPr txBox="1"/>
          <p:nvPr/>
        </p:nvSpPr>
        <p:spPr>
          <a:xfrm>
            <a:off x="1276350" y="3810000"/>
            <a:ext cx="971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уважительнее карательной plain-среды</a:t>
            </a:r>
            <a:endParaRPr lang="en-US" sz="1650" dirty="0"/>
          </a:p>
        </p:txBody>
      </p:sp>
      <p:sp>
        <p:nvSpPr>
          <p:cNvPr id="18" name="rule"/>
          <p:cNvSpPr/>
          <p:nvPr/>
        </p:nvSpPr>
        <p:spPr>
          <a:xfrm>
            <a:off x="1276350" y="4305300"/>
            <a:ext cx="9715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09600" y="4514850"/>
            <a:ext cx="51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350" dirty="0"/>
          </a:p>
        </p:txBody>
      </p:sp>
      <p:sp>
        <p:nvSpPr>
          <p:cNvPr id="20" name="test-4"/>
          <p:cNvSpPr txBox="1"/>
          <p:nvPr/>
        </p:nvSpPr>
        <p:spPr>
          <a:xfrm>
            <a:off x="1276350" y="4495800"/>
            <a:ext cx="971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работает одинаковой грамматикой от упаковки до сотрудника</a:t>
            </a:r>
            <a:endParaRPr lang="en-US" sz="1650" dirty="0"/>
          </a:p>
        </p:txBody>
      </p:sp>
      <p:sp>
        <p:nvSpPr>
          <p:cNvPr id="21" name="rule"/>
          <p:cNvSpPr/>
          <p:nvPr/>
        </p:nvSpPr>
        <p:spPr>
          <a:xfrm>
            <a:off x="1276350" y="4991100"/>
            <a:ext cx="9715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609600" y="5200650"/>
            <a:ext cx="51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350" dirty="0"/>
          </a:p>
        </p:txBody>
      </p:sp>
      <p:sp>
        <p:nvSpPr>
          <p:cNvPr id="23" name="test-5"/>
          <p:cNvSpPr txBox="1"/>
          <p:nvPr/>
        </p:nvSpPr>
        <p:spPr>
          <a:xfrm>
            <a:off x="1276350" y="5181600"/>
            <a:ext cx="971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оставляет понятный список нерешённых регуляторных вопросов</a:t>
            </a:r>
            <a:endParaRPr lang="en-US" sz="1650" dirty="0"/>
          </a:p>
        </p:txBody>
      </p:sp>
      <p:sp>
        <p:nvSpPr>
          <p:cNvPr id="24" name="rule"/>
          <p:cNvSpPr/>
          <p:nvPr/>
        </p:nvSpPr>
        <p:spPr>
          <a:xfrm>
            <a:off x="1276350" y="5676900"/>
            <a:ext cx="9715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Сквозной сценарий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55</a:t>
            </a:r>
            <a:endParaRPr lang="en-US" sz="1050" dirty="0"/>
          </a:p>
        </p:txBody>
      </p:sp>
      <p:sp>
        <p:nvSpPr>
          <p:cNvPr id="9" name="rule"/>
          <p:cNvSpPr/>
          <p:nvPr/>
        </p:nvSpPr>
        <p:spPr>
          <a:xfrm>
            <a:off x="2647950" y="26670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cenario-1"/>
          <p:cNvSpPr/>
          <p:nvPr/>
        </p:nvSpPr>
        <p:spPr>
          <a:xfrm>
            <a:off x="609600" y="19812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762000" y="21145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cenario-1-text"/>
          <p:cNvSpPr txBox="1"/>
          <p:nvPr/>
        </p:nvSpPr>
        <p:spPr>
          <a:xfrm>
            <a:off x="762000" y="24193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Видит функцию точки</a:t>
            </a:r>
            <a:endParaRPr lang="en-US" sz="1500" dirty="0"/>
          </a:p>
        </p:txBody>
      </p:sp>
      <p:sp>
        <p:nvSpPr>
          <p:cNvPr id="13" name="rule"/>
          <p:cNvSpPr/>
          <p:nvPr/>
        </p:nvSpPr>
        <p:spPr>
          <a:xfrm>
            <a:off x="4876800" y="26670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cenario-2"/>
          <p:cNvSpPr/>
          <p:nvPr/>
        </p:nvSpPr>
        <p:spPr>
          <a:xfrm>
            <a:off x="2838450" y="19812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2990850" y="21145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cenario-2-text"/>
          <p:cNvSpPr txBox="1"/>
          <p:nvPr/>
        </p:nvSpPr>
        <p:spPr>
          <a:xfrm>
            <a:off x="2990850" y="24193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Входит без ID в информационную зону</a:t>
            </a:r>
            <a:endParaRPr lang="en-US" sz="1500" dirty="0"/>
          </a:p>
        </p:txBody>
      </p:sp>
      <p:sp>
        <p:nvSpPr>
          <p:cNvPr id="17" name="rule"/>
          <p:cNvSpPr/>
          <p:nvPr/>
        </p:nvSpPr>
        <p:spPr>
          <a:xfrm>
            <a:off x="7105650" y="26670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cenario-3"/>
          <p:cNvSpPr/>
          <p:nvPr/>
        </p:nvSpPr>
        <p:spPr>
          <a:xfrm>
            <a:off x="5067300" y="19812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5219700" y="21145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cenario-3-text"/>
          <p:cNvSpPr txBox="1"/>
          <p:nvPr/>
        </p:nvSpPr>
        <p:spPr>
          <a:xfrm>
            <a:off x="5219700" y="24193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Понимает классификацию</a:t>
            </a:r>
            <a:endParaRPr lang="en-US" sz="1500" dirty="0"/>
          </a:p>
        </p:txBody>
      </p:sp>
      <p:sp>
        <p:nvSpPr>
          <p:cNvPr id="21" name="rule"/>
          <p:cNvSpPr/>
          <p:nvPr/>
        </p:nvSpPr>
        <p:spPr>
          <a:xfrm>
            <a:off x="9334500" y="26670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cenario-4"/>
          <p:cNvSpPr/>
          <p:nvPr/>
        </p:nvSpPr>
        <p:spPr>
          <a:xfrm>
            <a:off x="7296150" y="19812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7448550" y="21145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scenario-4-text"/>
          <p:cNvSpPr txBox="1"/>
          <p:nvPr/>
        </p:nvSpPr>
        <p:spPr>
          <a:xfrm>
            <a:off x="7448550" y="24193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Находит условный продукт</a:t>
            </a:r>
            <a:endParaRPr lang="en-US" sz="1500" dirty="0"/>
          </a:p>
        </p:txBody>
      </p:sp>
      <p:sp>
        <p:nvSpPr>
          <p:cNvPr id="25" name="scenario-5"/>
          <p:cNvSpPr/>
          <p:nvPr/>
        </p:nvSpPr>
        <p:spPr>
          <a:xfrm>
            <a:off x="9525000" y="19812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9677400" y="21145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scenario-5-text"/>
          <p:cNvSpPr txBox="1"/>
          <p:nvPr/>
        </p:nvSpPr>
        <p:spPr>
          <a:xfrm>
            <a:off x="9677400" y="24193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Сравнивает две формы</a:t>
            </a:r>
            <a:endParaRPr lang="en-US" sz="1500" dirty="0"/>
          </a:p>
        </p:txBody>
      </p:sp>
      <p:sp>
        <p:nvSpPr>
          <p:cNvPr id="28" name="rule"/>
          <p:cNvSpPr/>
          <p:nvPr/>
        </p:nvSpPr>
        <p:spPr>
          <a:xfrm>
            <a:off x="2647950" y="45339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cenario-6"/>
          <p:cNvSpPr/>
          <p:nvPr/>
        </p:nvSpPr>
        <p:spPr>
          <a:xfrm>
            <a:off x="609600" y="38481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30" name="text"/>
          <p:cNvSpPr txBox="1"/>
          <p:nvPr/>
        </p:nvSpPr>
        <p:spPr>
          <a:xfrm>
            <a:off x="762000" y="39814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scenario-6-text"/>
          <p:cNvSpPr txBox="1"/>
          <p:nvPr/>
        </p:nvSpPr>
        <p:spPr>
          <a:xfrm>
            <a:off x="762000" y="42862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 необходимости задаёт вопрос</a:t>
            </a:r>
            <a:endParaRPr lang="en-US" sz="1500" dirty="0"/>
          </a:p>
        </p:txBody>
      </p:sp>
      <p:sp>
        <p:nvSpPr>
          <p:cNvPr id="32" name="rule"/>
          <p:cNvSpPr/>
          <p:nvPr/>
        </p:nvSpPr>
        <p:spPr>
          <a:xfrm>
            <a:off x="4876800" y="45339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cenario-7"/>
          <p:cNvSpPr/>
          <p:nvPr/>
        </p:nvSpPr>
        <p:spPr>
          <a:xfrm>
            <a:off x="2838450" y="38481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2990850" y="39814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  <p:sp>
        <p:nvSpPr>
          <p:cNvPr id="35" name="scenario-7-text"/>
          <p:cNvSpPr txBox="1"/>
          <p:nvPr/>
        </p:nvSpPr>
        <p:spPr>
          <a:xfrm>
            <a:off x="2990850" y="42862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Подтверждает право перед выдачей</a:t>
            </a:r>
            <a:endParaRPr lang="en-US" sz="1500" dirty="0"/>
          </a:p>
        </p:txBody>
      </p:sp>
      <p:sp>
        <p:nvSpPr>
          <p:cNvPr id="36" name="rule"/>
          <p:cNvSpPr/>
          <p:nvPr/>
        </p:nvSpPr>
        <p:spPr>
          <a:xfrm>
            <a:off x="7105650" y="45339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cenario-8"/>
          <p:cNvSpPr/>
          <p:nvPr/>
        </p:nvSpPr>
        <p:spPr>
          <a:xfrm>
            <a:off x="5067300" y="3848100"/>
            <a:ext cx="2038350" cy="1371600"/>
          </a:xfrm>
          <a:prstGeom prst="rect">
            <a:avLst/>
          </a:prstGeom>
          <a:solidFill>
            <a:srgbClr val="245B78"/>
          </a:solidFill>
          <a:ln w="9525">
            <a:solidFill>
              <a:srgbClr val="245B78"/>
            </a:solidFill>
            <a:prstDash val="solid"/>
          </a:ln>
        </p:spPr>
      </p:sp>
      <p:sp>
        <p:nvSpPr>
          <p:cNvPr id="38" name="text"/>
          <p:cNvSpPr txBox="1"/>
          <p:nvPr/>
        </p:nvSpPr>
        <p:spPr>
          <a:xfrm>
            <a:off x="5219700" y="39814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  <p:sp>
        <p:nvSpPr>
          <p:cNvPr id="39" name="scenario-8-text"/>
          <p:cNvSpPr txBox="1"/>
          <p:nvPr/>
        </p:nvSpPr>
        <p:spPr>
          <a:xfrm>
            <a:off x="5219700" y="42862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Слышит критический факт</a:t>
            </a:r>
            <a:endParaRPr lang="en-US" sz="1500" dirty="0"/>
          </a:p>
        </p:txBody>
      </p:sp>
      <p:sp>
        <p:nvSpPr>
          <p:cNvPr id="40" name="rule"/>
          <p:cNvSpPr/>
          <p:nvPr/>
        </p:nvSpPr>
        <p:spPr>
          <a:xfrm>
            <a:off x="9334500" y="4533900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cenario-9"/>
          <p:cNvSpPr/>
          <p:nvPr/>
        </p:nvSpPr>
        <p:spPr>
          <a:xfrm>
            <a:off x="7296150" y="38481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42" name="text"/>
          <p:cNvSpPr txBox="1"/>
          <p:nvPr/>
        </p:nvSpPr>
        <p:spPr>
          <a:xfrm>
            <a:off x="7448550" y="39814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  <p:sp>
        <p:nvSpPr>
          <p:cNvPr id="43" name="scenario-9-text"/>
          <p:cNvSpPr txBox="1"/>
          <p:nvPr/>
        </p:nvSpPr>
        <p:spPr>
          <a:xfrm>
            <a:off x="7448550" y="42862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Получает упаковку и чек</a:t>
            </a:r>
            <a:endParaRPr lang="en-US" sz="1500" dirty="0"/>
          </a:p>
        </p:txBody>
      </p:sp>
      <p:sp>
        <p:nvSpPr>
          <p:cNvPr id="44" name="scenario-10"/>
          <p:cNvSpPr/>
          <p:nvPr/>
        </p:nvSpPr>
        <p:spPr>
          <a:xfrm>
            <a:off x="9525000" y="3848100"/>
            <a:ext cx="2038350" cy="13716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45" name="text"/>
          <p:cNvSpPr txBox="1"/>
          <p:nvPr/>
        </p:nvSpPr>
        <p:spPr>
          <a:xfrm>
            <a:off x="9677400" y="398145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scenario-10-text"/>
          <p:cNvSpPr txBox="1"/>
          <p:nvPr/>
        </p:nvSpPr>
        <p:spPr>
          <a:xfrm>
            <a:off x="9677400" y="4286250"/>
            <a:ext cx="17335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Проверяет партию или открывает помощь</a:t>
            </a:r>
            <a:endParaRPr lang="en-US" sz="1500" dirty="0"/>
          </a:p>
        </p:txBody>
      </p:sp>
      <p:sp>
        <p:nvSpPr>
          <p:cNvPr id="47" name="text"/>
          <p:cNvSpPr txBox="1"/>
          <p:nvPr/>
        </p:nvSpPr>
        <p:spPr>
          <a:xfrm>
            <a:off x="609600" y="5695950"/>
            <a:ext cx="838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Информация и помощь доступны до транзакции и после неё.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5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51435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 · PHYSICAL</a:t>
            </a:r>
            <a:endParaRPr lang="en-US" sz="1350" dirty="0"/>
          </a:p>
        </p:txBody>
      </p:sp>
      <p:sp>
        <p:nvSpPr>
          <p:cNvPr id="3" name="section-title"/>
          <p:cNvSpPr txBox="1"/>
          <p:nvPr/>
        </p:nvSpPr>
        <p:spPr>
          <a:xfrm>
            <a:off x="609600" y="1847850"/>
            <a:ext cx="952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Физический комплект</a:t>
            </a:r>
            <a:endParaRPr lang="en-US" sz="5400" dirty="0"/>
          </a:p>
        </p:txBody>
      </p:sp>
      <p:sp>
        <p:nvSpPr>
          <p:cNvPr id="4" name="section-subtitle"/>
          <p:cNvSpPr txBox="1"/>
          <p:nvPr/>
        </p:nvSpPr>
        <p:spPr>
          <a:xfrm>
            <a:off x="609600" y="3162300"/>
            <a:ext cx="8858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Упаковка · пространство · печатные носители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6B87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55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 · PHYSICAL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Упаковка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55</a:t>
            </a:r>
            <a:endParaRPr lang="en-US" sz="1050" dirty="0"/>
          </a:p>
        </p:txBody>
      </p:sp>
      <p:sp>
        <p:nvSpPr>
          <p:cNvPr id="9" name="bullet-1-mark"/>
          <p:cNvSpPr txBox="1"/>
          <p:nvPr/>
        </p:nvSpPr>
        <p:spPr>
          <a:xfrm>
            <a:off x="609600" y="200025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75" dirty="0"/>
          </a:p>
        </p:txBody>
      </p:sp>
      <p:sp>
        <p:nvSpPr>
          <p:cNvPr id="10" name="bullet-1-text"/>
          <p:cNvSpPr txBox="1"/>
          <p:nvPr/>
        </p:nvSpPr>
        <p:spPr>
          <a:xfrm>
            <a:off x="933450" y="2000250"/>
            <a:ext cx="5867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семейства: жидкость, набор единиц, контролируемая единица</a:t>
            </a:r>
            <a:endParaRPr lang="en-US" sz="1575" dirty="0"/>
          </a:p>
        </p:txBody>
      </p:sp>
      <p:sp>
        <p:nvSpPr>
          <p:cNvPr id="11" name="bullet-2-mark"/>
          <p:cNvSpPr txBox="1"/>
          <p:nvPr/>
        </p:nvSpPr>
        <p:spPr>
          <a:xfrm>
            <a:off x="609600" y="270510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75" dirty="0"/>
          </a:p>
        </p:txBody>
      </p:sp>
      <p:sp>
        <p:nvSpPr>
          <p:cNvPr id="12" name="bullet-2-text"/>
          <p:cNvSpPr txBox="1"/>
          <p:nvPr/>
        </p:nvSpPr>
        <p:spPr>
          <a:xfrm>
            <a:off x="933450" y="2705100"/>
            <a:ext cx="5867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варианта в каждом семействе</a:t>
            </a:r>
            <a:endParaRPr lang="en-US" sz="1575" dirty="0"/>
          </a:p>
        </p:txBody>
      </p:sp>
      <p:sp>
        <p:nvSpPr>
          <p:cNvPr id="13" name="bullet-3-mark"/>
          <p:cNvSpPr txBox="1"/>
          <p:nvPr/>
        </p:nvSpPr>
        <p:spPr>
          <a:xfrm>
            <a:off x="609600" y="340995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75" dirty="0"/>
          </a:p>
        </p:txBody>
      </p:sp>
      <p:sp>
        <p:nvSpPr>
          <p:cNvPr id="14" name="bullet-3-text"/>
          <p:cNvSpPr txBox="1"/>
          <p:nvPr/>
        </p:nvSpPr>
        <p:spPr>
          <a:xfrm>
            <a:off x="933450" y="3409950"/>
            <a:ext cx="5867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только фиктивные активные вещества или явно фиктивные значения</a:t>
            </a:r>
            <a:endParaRPr lang="en-US" sz="1575" dirty="0"/>
          </a:p>
        </p:txBody>
      </p:sp>
      <p:sp>
        <p:nvSpPr>
          <p:cNvPr id="15" name="bullet-4-mark"/>
          <p:cNvSpPr txBox="1"/>
          <p:nvPr/>
        </p:nvSpPr>
        <p:spPr>
          <a:xfrm>
            <a:off x="609600" y="411480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75" dirty="0"/>
          </a:p>
        </p:txBody>
      </p:sp>
      <p:sp>
        <p:nvSpPr>
          <p:cNvPr id="16" name="bullet-4-text"/>
          <p:cNvSpPr txBox="1"/>
          <p:nvPr/>
        </p:nvSpPr>
        <p:spPr>
          <a:xfrm>
            <a:off x="933450" y="4114800"/>
            <a:ext cx="5867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лицевая, оборотная и техническая зоны</a:t>
            </a:r>
            <a:endParaRPr lang="en-US" sz="1575" dirty="0"/>
          </a:p>
        </p:txBody>
      </p:sp>
      <p:sp>
        <p:nvSpPr>
          <p:cNvPr id="17" name="bullet-5-mark"/>
          <p:cNvSpPr txBox="1"/>
          <p:nvPr/>
        </p:nvSpPr>
        <p:spPr>
          <a:xfrm>
            <a:off x="609600" y="4819650"/>
            <a:ext cx="2667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575" dirty="0"/>
          </a:p>
        </p:txBody>
      </p:sp>
      <p:sp>
        <p:nvSpPr>
          <p:cNvPr id="18" name="bullet-5-text"/>
          <p:cNvSpPr txBox="1"/>
          <p:nvPr/>
        </p:nvSpPr>
        <p:spPr>
          <a:xfrm>
            <a:off x="933450" y="4819650"/>
            <a:ext cx="5867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 на локальный прототип реестра</a:t>
            </a:r>
            <a:endParaRPr lang="en-US" sz="1575" dirty="0"/>
          </a:p>
        </p:txBody>
      </p:sp>
      <p:sp>
        <p:nvSpPr>
          <p:cNvPr id="19" name="visual-placeholder"/>
          <p:cNvSpPr/>
          <p:nvPr/>
        </p:nvSpPr>
        <p:spPr>
          <a:xfrm>
            <a:off x="7258050" y="1962150"/>
            <a:ext cx="4324350" cy="37909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0" name="placeholder-label"/>
          <p:cNvSpPr txBox="1"/>
          <p:nvPr/>
        </p:nvSpPr>
        <p:spPr>
          <a:xfrm>
            <a:off x="7486650" y="2190750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PLACEHOLDER</a:t>
            </a:r>
            <a:endParaRPr lang="en-US" sz="1350" dirty="0"/>
          </a:p>
        </p:txBody>
      </p:sp>
      <p:sp>
        <p:nvSpPr>
          <p:cNvPr id="21" name="placeholder-description"/>
          <p:cNvSpPr txBox="1"/>
          <p:nvPr/>
        </p:nvSpPr>
        <p:spPr>
          <a:xfrm>
            <a:off x="7486650" y="2647950"/>
            <a:ext cx="38671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Три упаковочных семейства × два варианта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лицевая · оборотная · техническая зоны</a:t>
            </a:r>
            <a:endParaRPr lang="en-US" sz="2400" dirty="0"/>
          </a:p>
        </p:txBody>
      </p:sp>
      <p:sp>
        <p:nvSpPr>
          <p:cNvPr id="22" name="placeholder-meta"/>
          <p:cNvSpPr txBox="1"/>
          <p:nvPr/>
        </p:nvSpPr>
        <p:spPr>
          <a:xfrm>
            <a:off x="7486650" y="5295900"/>
            <a:ext cx="3867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5:4 · заменить без lifestyle-кода и product hero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 · PHYSICAL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Пространство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55</a:t>
            </a:r>
            <a:endParaRPr lang="en-US" sz="1050" dirty="0"/>
          </a:p>
        </p:txBody>
      </p:sp>
      <p:sp>
        <p:nvSpPr>
          <p:cNvPr id="9" name="space-1"/>
          <p:cNvSpPr/>
          <p:nvPr/>
        </p:nvSpPr>
        <p:spPr>
          <a:xfrm>
            <a:off x="609600" y="19621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762000" y="20955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pace-1-text"/>
          <p:cNvSpPr txBox="1"/>
          <p:nvPr/>
        </p:nvSpPr>
        <p:spPr>
          <a:xfrm>
            <a:off x="762000" y="24003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фасадный фрагмент 1:1</a:t>
            </a:r>
            <a:endParaRPr lang="en-US" sz="1500" dirty="0"/>
          </a:p>
        </p:txBody>
      </p:sp>
      <p:sp>
        <p:nvSpPr>
          <p:cNvPr id="12" name="rule"/>
          <p:cNvSpPr/>
          <p:nvPr/>
        </p:nvSpPr>
        <p:spPr>
          <a:xfrm>
            <a:off x="2647950" y="2600325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pace-2"/>
          <p:cNvSpPr/>
          <p:nvPr/>
        </p:nvSpPr>
        <p:spPr>
          <a:xfrm>
            <a:off x="2838450" y="19621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2990850" y="20955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pace-2-text"/>
          <p:cNvSpPr txBox="1"/>
          <p:nvPr/>
        </p:nvSpPr>
        <p:spPr>
          <a:xfrm>
            <a:off x="2990850" y="24003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входная панель правил</a:t>
            </a:r>
            <a:endParaRPr lang="en-US" sz="1500" dirty="0"/>
          </a:p>
        </p:txBody>
      </p:sp>
      <p:sp>
        <p:nvSpPr>
          <p:cNvPr id="16" name="rule"/>
          <p:cNvSpPr/>
          <p:nvPr/>
        </p:nvSpPr>
        <p:spPr>
          <a:xfrm>
            <a:off x="4876800" y="2600325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pace-3"/>
          <p:cNvSpPr/>
          <p:nvPr/>
        </p:nvSpPr>
        <p:spPr>
          <a:xfrm>
            <a:off x="5067300" y="19621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5219700" y="20955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pace-3-text"/>
          <p:cNvSpPr txBox="1"/>
          <p:nvPr/>
        </p:nvSpPr>
        <p:spPr>
          <a:xfrm>
            <a:off x="5219700" y="24003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карта классов</a:t>
            </a:r>
            <a:endParaRPr lang="en-US" sz="1500" dirty="0"/>
          </a:p>
        </p:txBody>
      </p:sp>
      <p:sp>
        <p:nvSpPr>
          <p:cNvPr id="20" name="rule"/>
          <p:cNvSpPr/>
          <p:nvPr/>
        </p:nvSpPr>
        <p:spPr>
          <a:xfrm>
            <a:off x="7105650" y="2600325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pace-4"/>
          <p:cNvSpPr/>
          <p:nvPr/>
        </p:nvSpPr>
        <p:spPr>
          <a:xfrm>
            <a:off x="7296150" y="19621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7448550" y="20955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space-4-text"/>
          <p:cNvSpPr txBox="1"/>
          <p:nvPr/>
        </p:nvSpPr>
        <p:spPr>
          <a:xfrm>
            <a:off x="7448550" y="24003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стойка самостоятельной информации</a:t>
            </a:r>
            <a:endParaRPr lang="en-US" sz="1500" dirty="0"/>
          </a:p>
        </p:txBody>
      </p:sp>
      <p:sp>
        <p:nvSpPr>
          <p:cNvPr id="24" name="rule"/>
          <p:cNvSpPr/>
          <p:nvPr/>
        </p:nvSpPr>
        <p:spPr>
          <a:xfrm>
            <a:off x="9334500" y="2600325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pace-5"/>
          <p:cNvSpPr/>
          <p:nvPr/>
        </p:nvSpPr>
        <p:spPr>
          <a:xfrm>
            <a:off x="9525000" y="19621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9677400" y="20955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space-5-text"/>
          <p:cNvSpPr txBox="1"/>
          <p:nvPr/>
        </p:nvSpPr>
        <p:spPr>
          <a:xfrm>
            <a:off x="9677400" y="24003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очередь</a:t>
            </a:r>
            <a:endParaRPr lang="en-US" sz="1500" dirty="0"/>
          </a:p>
        </p:txBody>
      </p:sp>
      <p:sp>
        <p:nvSpPr>
          <p:cNvPr id="28" name="space-6"/>
          <p:cNvSpPr/>
          <p:nvPr/>
        </p:nvSpPr>
        <p:spPr>
          <a:xfrm>
            <a:off x="609600" y="39052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762000" y="40386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space-6-text"/>
          <p:cNvSpPr txBox="1"/>
          <p:nvPr/>
        </p:nvSpPr>
        <p:spPr>
          <a:xfrm>
            <a:off x="762000" y="43434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рабочее место выдачи</a:t>
            </a:r>
            <a:endParaRPr lang="en-US" sz="1500" dirty="0"/>
          </a:p>
        </p:txBody>
      </p:sp>
      <p:sp>
        <p:nvSpPr>
          <p:cNvPr id="31" name="rule"/>
          <p:cNvSpPr/>
          <p:nvPr/>
        </p:nvSpPr>
        <p:spPr>
          <a:xfrm>
            <a:off x="2647950" y="4543425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pace-7"/>
          <p:cNvSpPr/>
          <p:nvPr/>
        </p:nvSpPr>
        <p:spPr>
          <a:xfrm>
            <a:off x="2838450" y="39052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2990850" y="40386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space-7-text"/>
          <p:cNvSpPr txBox="1"/>
          <p:nvPr/>
        </p:nvSpPr>
        <p:spPr>
          <a:xfrm>
            <a:off x="2990850" y="43434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приватная консультация</a:t>
            </a:r>
            <a:endParaRPr lang="en-US" sz="1500" dirty="0"/>
          </a:p>
        </p:txBody>
      </p:sp>
      <p:sp>
        <p:nvSpPr>
          <p:cNvPr id="35" name="rule"/>
          <p:cNvSpPr/>
          <p:nvPr/>
        </p:nvSpPr>
        <p:spPr>
          <a:xfrm>
            <a:off x="4876800" y="4543425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pace-8"/>
          <p:cNvSpPr/>
          <p:nvPr/>
        </p:nvSpPr>
        <p:spPr>
          <a:xfrm>
            <a:off x="5067300" y="39052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5219700" y="40386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space-8-text"/>
          <p:cNvSpPr txBox="1"/>
          <p:nvPr/>
        </p:nvSpPr>
        <p:spPr>
          <a:xfrm>
            <a:off x="5219700" y="43434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закрытое хранение</a:t>
            </a:r>
            <a:endParaRPr lang="en-US" sz="1500" dirty="0"/>
          </a:p>
        </p:txBody>
      </p:sp>
      <p:sp>
        <p:nvSpPr>
          <p:cNvPr id="39" name="rule"/>
          <p:cNvSpPr/>
          <p:nvPr/>
        </p:nvSpPr>
        <p:spPr>
          <a:xfrm>
            <a:off x="7105650" y="4543425"/>
            <a:ext cx="190500" cy="19050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pace-9"/>
          <p:cNvSpPr/>
          <p:nvPr/>
        </p:nvSpPr>
        <p:spPr>
          <a:xfrm>
            <a:off x="7296150" y="3905250"/>
            <a:ext cx="2038350" cy="127635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41" name="text"/>
          <p:cNvSpPr txBox="1"/>
          <p:nvPr/>
        </p:nvSpPr>
        <p:spPr>
          <a:xfrm>
            <a:off x="7448550" y="4038600"/>
            <a:ext cx="400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space-9-text"/>
          <p:cNvSpPr txBox="1"/>
          <p:nvPr/>
        </p:nvSpPr>
        <p:spPr>
          <a:xfrm>
            <a:off x="7448550" y="4343400"/>
            <a:ext cx="1733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выходная панель помощи и отзыва</a:t>
            </a:r>
            <a:endParaRPr lang="en-US" sz="1500" dirty="0"/>
          </a:p>
        </p:txBody>
      </p:sp>
      <p:sp>
        <p:nvSpPr>
          <p:cNvPr id="43" name="visual-placeholder"/>
          <p:cNvSpPr/>
          <p:nvPr/>
        </p:nvSpPr>
        <p:spPr>
          <a:xfrm>
            <a:off x="9525000" y="3905250"/>
            <a:ext cx="2057400" cy="12763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44" name="text"/>
          <p:cNvSpPr txBox="1"/>
          <p:nvPr/>
        </p:nvSpPr>
        <p:spPr>
          <a:xfrm>
            <a:off x="9677400" y="4095750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PLACEHOLDER</a:t>
            </a:r>
            <a:endParaRPr lang="en-US" sz="975" dirty="0"/>
          </a:p>
        </p:txBody>
      </p:sp>
      <p:sp>
        <p:nvSpPr>
          <p:cNvPr id="45" name="text"/>
          <p:cNvSpPr txBox="1"/>
          <p:nvPr/>
        </p:nvSpPr>
        <p:spPr>
          <a:xfrm>
            <a:off x="9677400" y="4495800"/>
            <a:ext cx="1752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Фрагмент плана 1:1</a:t>
            </a:r>
            <a:endParaRPr lang="en-US" sz="1500" dirty="0"/>
          </a:p>
        </p:txBody>
      </p:sp>
      <p:sp>
        <p:nvSpPr>
          <p:cNvPr id="46" name="text"/>
          <p:cNvSpPr txBox="1"/>
          <p:nvPr/>
        </p:nvSpPr>
        <p:spPr>
          <a:xfrm>
            <a:off x="609600" y="5638800"/>
            <a:ext cx="895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Последовательность фиксирует функции, а не готовую архитектуру.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 · PHYSICAL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Печатные носители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55</a:t>
            </a:r>
            <a:endParaRPr lang="en-US" sz="1050" dirty="0"/>
          </a:p>
        </p:txBody>
      </p:sp>
      <p:sp>
        <p:nvSpPr>
          <p:cNvPr id="9" name="bullet-1-mark"/>
          <p:cNvSpPr txBox="1"/>
          <p:nvPr/>
        </p:nvSpPr>
        <p:spPr>
          <a:xfrm>
            <a:off x="609600" y="1962150"/>
            <a:ext cx="26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0" name="bullet-1-text"/>
          <p:cNvSpPr txBox="1"/>
          <p:nvPr/>
        </p:nvSpPr>
        <p:spPr>
          <a:xfrm>
            <a:off x="933450" y="196215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продукта</a:t>
            </a:r>
            <a:endParaRPr lang="en-US" sz="1650" dirty="0"/>
          </a:p>
        </p:txBody>
      </p:sp>
      <p:sp>
        <p:nvSpPr>
          <p:cNvPr id="11" name="bullet-2-mark"/>
          <p:cNvSpPr txBox="1"/>
          <p:nvPr/>
        </p:nvSpPr>
        <p:spPr>
          <a:xfrm>
            <a:off x="609600" y="2495550"/>
            <a:ext cx="26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2" name="bullet-2-text"/>
          <p:cNvSpPr txBox="1"/>
          <p:nvPr/>
        </p:nvSpPr>
        <p:spPr>
          <a:xfrm>
            <a:off x="933450" y="249555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сравнения</a:t>
            </a:r>
            <a:endParaRPr lang="en-US" sz="1650" dirty="0"/>
          </a:p>
        </p:txBody>
      </p:sp>
      <p:sp>
        <p:nvSpPr>
          <p:cNvPr id="13" name="bullet-3-mark"/>
          <p:cNvSpPr txBox="1"/>
          <p:nvPr/>
        </p:nvSpPr>
        <p:spPr>
          <a:xfrm>
            <a:off x="609600" y="3028950"/>
            <a:ext cx="26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4" name="bullet-3-text"/>
          <p:cNvSpPr txBox="1"/>
          <p:nvPr/>
        </p:nvSpPr>
        <p:spPr>
          <a:xfrm>
            <a:off x="933450" y="302895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чек</a:t>
            </a:r>
            <a:endParaRPr lang="en-US" sz="1650" dirty="0"/>
          </a:p>
        </p:txBody>
      </p:sp>
      <p:sp>
        <p:nvSpPr>
          <p:cNvPr id="15" name="bullet-4-mark"/>
          <p:cNvSpPr txBox="1"/>
          <p:nvPr/>
        </p:nvSpPr>
        <p:spPr>
          <a:xfrm>
            <a:off x="609600" y="3562350"/>
            <a:ext cx="26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6" name="bullet-4-text"/>
          <p:cNvSpPr txBox="1"/>
          <p:nvPr/>
        </p:nvSpPr>
        <p:spPr>
          <a:xfrm>
            <a:off x="933450" y="356235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отказа и следующих шагов</a:t>
            </a:r>
            <a:endParaRPr lang="en-US" sz="1650" dirty="0"/>
          </a:p>
        </p:txBody>
      </p:sp>
      <p:sp>
        <p:nvSpPr>
          <p:cNvPr id="17" name="bullet-5-mark"/>
          <p:cNvSpPr txBox="1"/>
          <p:nvPr/>
        </p:nvSpPr>
        <p:spPr>
          <a:xfrm>
            <a:off x="609600" y="4095750"/>
            <a:ext cx="26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18" name="bullet-5-text"/>
          <p:cNvSpPr txBox="1"/>
          <p:nvPr/>
        </p:nvSpPr>
        <p:spPr>
          <a:xfrm>
            <a:off x="933450" y="409575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помощи</a:t>
            </a:r>
            <a:endParaRPr lang="en-US" sz="1650" dirty="0"/>
          </a:p>
        </p:txBody>
      </p:sp>
      <p:sp>
        <p:nvSpPr>
          <p:cNvPr id="19" name="bullet-6-mark"/>
          <p:cNvSpPr txBox="1"/>
          <p:nvPr/>
        </p:nvSpPr>
        <p:spPr>
          <a:xfrm>
            <a:off x="609600" y="4629150"/>
            <a:ext cx="26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20" name="bullet-6-text"/>
          <p:cNvSpPr txBox="1"/>
          <p:nvPr/>
        </p:nvSpPr>
        <p:spPr>
          <a:xfrm>
            <a:off x="933450" y="462915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уведомление об отзыве</a:t>
            </a:r>
            <a:endParaRPr lang="en-US" sz="1650" dirty="0"/>
          </a:p>
        </p:txBody>
      </p:sp>
      <p:sp>
        <p:nvSpPr>
          <p:cNvPr id="21" name="bullet-7-mark"/>
          <p:cNvSpPr txBox="1"/>
          <p:nvPr/>
        </p:nvSpPr>
        <p:spPr>
          <a:xfrm>
            <a:off x="609600" y="5162550"/>
            <a:ext cx="266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5B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</a:t>
            </a:r>
            <a:endParaRPr lang="en-US" sz="1650" dirty="0"/>
          </a:p>
        </p:txBody>
      </p:sp>
      <p:sp>
        <p:nvSpPr>
          <p:cNvPr id="22" name="bullet-7-text"/>
          <p:cNvSpPr txBox="1"/>
          <p:nvPr/>
        </p:nvSpPr>
        <p:spPr>
          <a:xfrm>
            <a:off x="933450" y="5162550"/>
            <a:ext cx="462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служебный badge сотрудника</a:t>
            </a:r>
            <a:endParaRPr lang="en-US" sz="1650" dirty="0"/>
          </a:p>
        </p:txBody>
      </p:sp>
      <p:sp>
        <p:nvSpPr>
          <p:cNvPr id="23" name="visual-placeholder"/>
          <p:cNvSpPr/>
          <p:nvPr/>
        </p:nvSpPr>
        <p:spPr>
          <a:xfrm>
            <a:off x="5905500" y="1962150"/>
            <a:ext cx="5676900" cy="37909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4" name="placeholder-label"/>
          <p:cNvSpPr txBox="1"/>
          <p:nvPr/>
        </p:nvSpPr>
        <p:spPr>
          <a:xfrm>
            <a:off x="6134100" y="219075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PLACEHOLDER</a:t>
            </a:r>
            <a:endParaRPr lang="en-US" sz="1350" dirty="0"/>
          </a:p>
        </p:txBody>
      </p:sp>
      <p:sp>
        <p:nvSpPr>
          <p:cNvPr id="25" name="placeholder-description"/>
          <p:cNvSpPr txBox="1"/>
          <p:nvPr/>
        </p:nvSpPr>
        <p:spPr>
          <a:xfrm>
            <a:off x="6134100" y="2647950"/>
            <a:ext cx="52197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Редактируемая раскладка семи печатных носителей</a:t>
            </a:r>
            <a:endParaRPr lang="en-US" sz="2400" dirty="0"/>
          </a:p>
        </p:txBody>
      </p:sp>
      <p:sp>
        <p:nvSpPr>
          <p:cNvPr id="26" name="placeholder-meta"/>
          <p:cNvSpPr txBox="1"/>
          <p:nvPr/>
        </p:nvSpPr>
        <p:spPr>
          <a:xfrm>
            <a:off x="6134100" y="5295900"/>
            <a:ext cx="521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3:2 · заменить без lifestyle-кода и product hero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Digital-комплект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55</a:t>
            </a:r>
            <a:endParaRPr lang="en-US" sz="1050" dirty="0"/>
          </a:p>
        </p:txBody>
      </p:sp>
      <p:sp>
        <p:nvSpPr>
          <p:cNvPr id="9" name="text"/>
          <p:cNvSpPr txBox="1"/>
          <p:nvPr/>
        </p:nvSpPr>
        <p:spPr>
          <a:xfrm>
            <a:off x="609600" y="192405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text"/>
          <p:cNvSpPr txBox="1"/>
          <p:nvPr/>
        </p:nvSpPr>
        <p:spPr>
          <a:xfrm>
            <a:off x="1219200" y="19240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 и объяснение системы</a:t>
            </a:r>
            <a:endParaRPr lang="en-US" sz="1500" dirty="0"/>
          </a:p>
        </p:txBody>
      </p:sp>
      <p:sp>
        <p:nvSpPr>
          <p:cNvPr id="11" name="rule"/>
          <p:cNvSpPr/>
          <p:nvPr/>
        </p:nvSpPr>
        <p:spPr>
          <a:xfrm>
            <a:off x="1219200" y="2305050"/>
            <a:ext cx="4762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609600" y="245745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text"/>
          <p:cNvSpPr txBox="1"/>
          <p:nvPr/>
        </p:nvSpPr>
        <p:spPr>
          <a:xfrm>
            <a:off x="1219200" y="24574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карта классов</a:t>
            </a:r>
            <a:endParaRPr lang="en-US" sz="1500" dirty="0"/>
          </a:p>
        </p:txBody>
      </p:sp>
      <p:sp>
        <p:nvSpPr>
          <p:cNvPr id="14" name="rule"/>
          <p:cNvSpPr/>
          <p:nvPr/>
        </p:nvSpPr>
        <p:spPr>
          <a:xfrm>
            <a:off x="1219200" y="2838450"/>
            <a:ext cx="4762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609600" y="299085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text"/>
          <p:cNvSpPr txBox="1"/>
          <p:nvPr/>
        </p:nvSpPr>
        <p:spPr>
          <a:xfrm>
            <a:off x="1219200" y="29908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список технических типов</a:t>
            </a:r>
            <a:endParaRPr lang="en-US" sz="1500" dirty="0"/>
          </a:p>
        </p:txBody>
      </p:sp>
      <p:sp>
        <p:nvSpPr>
          <p:cNvPr id="17" name="rule"/>
          <p:cNvSpPr/>
          <p:nvPr/>
        </p:nvSpPr>
        <p:spPr>
          <a:xfrm>
            <a:off x="1219200" y="3371850"/>
            <a:ext cx="4762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609600" y="352425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text"/>
          <p:cNvSpPr txBox="1"/>
          <p:nvPr/>
        </p:nvSpPr>
        <p:spPr>
          <a:xfrm>
            <a:off x="1219200" y="35242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продукта</a:t>
            </a:r>
            <a:endParaRPr lang="en-US" sz="1500" dirty="0"/>
          </a:p>
        </p:txBody>
      </p:sp>
      <p:sp>
        <p:nvSpPr>
          <p:cNvPr id="20" name="rule"/>
          <p:cNvSpPr/>
          <p:nvPr/>
        </p:nvSpPr>
        <p:spPr>
          <a:xfrm>
            <a:off x="1219200" y="3905250"/>
            <a:ext cx="4762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609600" y="405765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350" dirty="0"/>
          </a:p>
        </p:txBody>
      </p:sp>
      <p:sp>
        <p:nvSpPr>
          <p:cNvPr id="22" name="text"/>
          <p:cNvSpPr txBox="1"/>
          <p:nvPr/>
        </p:nvSpPr>
        <p:spPr>
          <a:xfrm>
            <a:off x="1219200" y="40576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сравнение</a:t>
            </a:r>
            <a:endParaRPr lang="en-US" sz="1500" dirty="0"/>
          </a:p>
        </p:txBody>
      </p:sp>
      <p:sp>
        <p:nvSpPr>
          <p:cNvPr id="23" name="rule"/>
          <p:cNvSpPr/>
          <p:nvPr/>
        </p:nvSpPr>
        <p:spPr>
          <a:xfrm>
            <a:off x="1219200" y="4438650"/>
            <a:ext cx="4762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609600" y="459105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350" dirty="0"/>
          </a:p>
        </p:txBody>
      </p:sp>
      <p:sp>
        <p:nvSpPr>
          <p:cNvPr id="25" name="text"/>
          <p:cNvSpPr txBox="1"/>
          <p:nvPr/>
        </p:nvSpPr>
        <p:spPr>
          <a:xfrm>
            <a:off x="1219200" y="45910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проверка партии и отзыв</a:t>
            </a:r>
            <a:endParaRPr lang="en-US" sz="1500" dirty="0"/>
          </a:p>
        </p:txBody>
      </p:sp>
      <p:sp>
        <p:nvSpPr>
          <p:cNvPr id="26" name="rule"/>
          <p:cNvSpPr/>
          <p:nvPr/>
        </p:nvSpPr>
        <p:spPr>
          <a:xfrm>
            <a:off x="1219200" y="4972050"/>
            <a:ext cx="4762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609600" y="512445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350" dirty="0"/>
          </a:p>
        </p:txBody>
      </p:sp>
      <p:sp>
        <p:nvSpPr>
          <p:cNvPr id="28" name="text"/>
          <p:cNvSpPr txBox="1"/>
          <p:nvPr/>
        </p:nvSpPr>
        <p:spPr>
          <a:xfrm>
            <a:off x="1219200" y="51244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помощь и источники</a:t>
            </a:r>
            <a:endParaRPr lang="en-US" sz="1500" dirty="0"/>
          </a:p>
        </p:txBody>
      </p:sp>
      <p:sp>
        <p:nvSpPr>
          <p:cNvPr id="29" name="rule"/>
          <p:cNvSpPr/>
          <p:nvPr/>
        </p:nvSpPr>
        <p:spPr>
          <a:xfrm>
            <a:off x="1219200" y="5505450"/>
            <a:ext cx="4762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visual-placeholder"/>
          <p:cNvSpPr/>
          <p:nvPr/>
        </p:nvSpPr>
        <p:spPr>
          <a:xfrm>
            <a:off x="6286500" y="1943100"/>
            <a:ext cx="5295900" cy="29337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31" name="placeholder-label"/>
          <p:cNvSpPr txBox="1"/>
          <p:nvPr/>
        </p:nvSpPr>
        <p:spPr>
          <a:xfrm>
            <a:off x="6515100" y="21717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VISUAL PLACEHOLDER</a:t>
            </a:r>
            <a:endParaRPr lang="en-US" sz="1350" dirty="0"/>
          </a:p>
        </p:txBody>
      </p:sp>
      <p:sp>
        <p:nvSpPr>
          <p:cNvPr id="32" name="placeholder-description"/>
          <p:cNvSpPr txBox="1"/>
          <p:nvPr/>
        </p:nvSpPr>
        <p:spPr>
          <a:xfrm>
            <a:off x="6515100" y="2628900"/>
            <a:ext cx="4838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Семь экранов единой информационной последовательности</a:t>
            </a:r>
            <a:endParaRPr lang="en-US" sz="2400" dirty="0"/>
          </a:p>
        </p:txBody>
      </p:sp>
      <p:sp>
        <p:nvSpPr>
          <p:cNvPr id="33" name="placeholder-meta"/>
          <p:cNvSpPr txBox="1"/>
          <p:nvPr/>
        </p:nvSpPr>
        <p:spPr>
          <a:xfrm>
            <a:off x="6515100" y="4419600"/>
            <a:ext cx="483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16:9 · заменить без lifestyle-кода и product hero</a:t>
            </a:r>
            <a:endParaRPr lang="en-US" sz="1200" dirty="0"/>
          </a:p>
        </p:txBody>
      </p:sp>
      <p:sp>
        <p:nvSpPr>
          <p:cNvPr id="34" name="service-screen-note"/>
          <p:cNvSpPr/>
          <p:nvPr/>
        </p:nvSpPr>
        <p:spPr>
          <a:xfrm>
            <a:off x="6286500" y="5124450"/>
            <a:ext cx="5295900" cy="7620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6496050" y="5295900"/>
            <a:ext cx="4876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Дополнительно: служебный экран подтверждения выдачи без рейтинга, маржи и sales prompts.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Сервисные сценарии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55</a:t>
            </a:r>
            <a:endParaRPr lang="en-US" sz="1050" dirty="0"/>
          </a:p>
        </p:txBody>
      </p:sp>
      <p:sp>
        <p:nvSpPr>
          <p:cNvPr id="9" name="text"/>
          <p:cNvSpPr txBox="1"/>
          <p:nvPr/>
        </p:nvSpPr>
        <p:spPr>
          <a:xfrm>
            <a:off x="609600" y="194310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service-1"/>
          <p:cNvSpPr txBox="1"/>
          <p:nvPr/>
        </p:nvSpPr>
        <p:spPr>
          <a:xfrm>
            <a:off x="1314450" y="19240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только информация</a:t>
            </a:r>
            <a:endParaRPr lang="en-US" sz="1950" dirty="0"/>
          </a:p>
        </p:txBody>
      </p:sp>
      <p:sp>
        <p:nvSpPr>
          <p:cNvPr id="11" name="rule"/>
          <p:cNvSpPr/>
          <p:nvPr/>
        </p:nvSpPr>
        <p:spPr>
          <a:xfrm>
            <a:off x="1314450" y="2381250"/>
            <a:ext cx="95250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609600" y="260985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service-2"/>
          <p:cNvSpPr txBox="1"/>
          <p:nvPr/>
        </p:nvSpPr>
        <p:spPr>
          <a:xfrm>
            <a:off x="1314450" y="2590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стандартная выдача</a:t>
            </a:r>
            <a:endParaRPr lang="en-US" sz="1950" dirty="0"/>
          </a:p>
        </p:txBody>
      </p:sp>
      <p:sp>
        <p:nvSpPr>
          <p:cNvPr id="14" name="rule"/>
          <p:cNvSpPr/>
          <p:nvPr/>
        </p:nvSpPr>
        <p:spPr>
          <a:xfrm>
            <a:off x="1314450" y="3048000"/>
            <a:ext cx="95250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609600" y="327660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service-3"/>
          <p:cNvSpPr txBox="1"/>
          <p:nvPr/>
        </p:nvSpPr>
        <p:spPr>
          <a:xfrm>
            <a:off x="1314450" y="32575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вопрос о сравнении</a:t>
            </a:r>
            <a:endParaRPr lang="en-US" sz="1950" dirty="0"/>
          </a:p>
        </p:txBody>
      </p:sp>
      <p:sp>
        <p:nvSpPr>
          <p:cNvPr id="17" name="rule"/>
          <p:cNvSpPr/>
          <p:nvPr/>
        </p:nvSpPr>
        <p:spPr>
          <a:xfrm>
            <a:off x="1314450" y="3714750"/>
            <a:ext cx="95250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609600" y="394335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service-4"/>
          <p:cNvSpPr txBox="1"/>
          <p:nvPr/>
        </p:nvSpPr>
        <p:spPr>
          <a:xfrm>
            <a:off x="1314450" y="3924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понятный отказ</a:t>
            </a:r>
            <a:endParaRPr lang="en-US" sz="1950" dirty="0"/>
          </a:p>
        </p:txBody>
      </p:sp>
      <p:sp>
        <p:nvSpPr>
          <p:cNvPr id="20" name="rule"/>
          <p:cNvSpPr/>
          <p:nvPr/>
        </p:nvSpPr>
        <p:spPr>
          <a:xfrm>
            <a:off x="1314450" y="4381500"/>
            <a:ext cx="95250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609600" y="461010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350" dirty="0"/>
          </a:p>
        </p:txBody>
      </p:sp>
      <p:sp>
        <p:nvSpPr>
          <p:cNvPr id="22" name="service-5"/>
          <p:cNvSpPr txBox="1"/>
          <p:nvPr/>
        </p:nvSpPr>
        <p:spPr>
          <a:xfrm>
            <a:off x="1314450" y="45910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запрос помощи или сообщение о проблеме</a:t>
            </a:r>
            <a:endParaRPr lang="en-US" sz="1950" dirty="0"/>
          </a:p>
        </p:txBody>
      </p:sp>
      <p:sp>
        <p:nvSpPr>
          <p:cNvPr id="23" name="rule"/>
          <p:cNvSpPr/>
          <p:nvPr/>
        </p:nvSpPr>
        <p:spPr>
          <a:xfrm>
            <a:off x="1314450" y="5048250"/>
            <a:ext cx="95250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ervice-boundary"/>
          <p:cNvSpPr/>
          <p:nvPr/>
        </p:nvSpPr>
        <p:spPr>
          <a:xfrm>
            <a:off x="609600" y="5505450"/>
            <a:ext cx="10972800" cy="533400"/>
          </a:xfrm>
          <a:prstGeom prst="rect">
            <a:avLst/>
          </a:prstGeom>
          <a:solidFill>
            <a:srgbClr val="E8E6DF"/>
          </a:solidFill>
          <a:ln w="9525">
            <a:solidFill>
              <a:srgbClr val="C9C7C0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800100" y="5638800"/>
            <a:ext cx="1059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Сценарии не включают медицинскую импровизацию. Для риска используются утверждённые тестовые фразы-заполнители.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Сенсорные режимы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55</a:t>
            </a:r>
            <a:endParaRPr lang="en-US" sz="1050" dirty="0"/>
          </a:p>
        </p:txBody>
      </p:sp>
      <p:sp>
        <p:nvSpPr>
          <p:cNvPr id="9" name="sensory-1"/>
          <p:cNvSpPr/>
          <p:nvPr/>
        </p:nvSpPr>
        <p:spPr>
          <a:xfrm>
            <a:off x="609600" y="2057400"/>
            <a:ext cx="3530600" cy="2590800"/>
          </a:xfrm>
          <a:prstGeom prst="rect">
            <a:avLst/>
          </a:prstGeom>
          <a:solidFill>
            <a:srgbClr val="E8E6DF"/>
          </a:solidFill>
          <a:ln w="9525">
            <a:solidFill>
              <a:srgbClr val="9A5B00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819150" y="2266950"/>
            <a:ext cx="311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CONTROL 01</a:t>
            </a:r>
            <a:endParaRPr lang="en-US" sz="1200" dirty="0"/>
          </a:p>
        </p:txBody>
      </p:sp>
      <p:sp>
        <p:nvSpPr>
          <p:cNvPr id="11" name="sensory-1-title"/>
          <p:cNvSpPr txBox="1"/>
          <p:nvPr/>
        </p:nvSpPr>
        <p:spPr>
          <a:xfrm>
            <a:off x="819150" y="2876550"/>
            <a:ext cx="3111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Коммерческий свет / звук</a:t>
            </a:r>
            <a:endParaRPr lang="en-US" sz="2400" dirty="0"/>
          </a:p>
        </p:txBody>
      </p:sp>
      <p:sp>
        <p:nvSpPr>
          <p:cNvPr id="12" name="text"/>
          <p:cNvSpPr txBox="1"/>
          <p:nvPr/>
        </p:nvSpPr>
        <p:spPr>
          <a:xfrm>
            <a:off x="819150" y="4152900"/>
            <a:ext cx="311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одна и та же архитектура</a:t>
            </a:r>
            <a:endParaRPr lang="en-US" sz="1200" dirty="0"/>
          </a:p>
        </p:txBody>
      </p:sp>
      <p:sp>
        <p:nvSpPr>
          <p:cNvPr id="13" name="sensory-2"/>
          <p:cNvSpPr/>
          <p:nvPr/>
        </p:nvSpPr>
        <p:spPr>
          <a:xfrm>
            <a:off x="4330700" y="2057400"/>
            <a:ext cx="3530600" cy="2590800"/>
          </a:xfrm>
          <a:prstGeom prst="rect">
            <a:avLst/>
          </a:prstGeom>
          <a:solidFill>
            <a:srgbClr val="E8E6DF"/>
          </a:solidFill>
          <a:ln w="9525">
            <a:solidFill>
              <a:srgbClr val="5C5C58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4540250" y="2266950"/>
            <a:ext cx="311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CONTROL 02</a:t>
            </a:r>
            <a:endParaRPr lang="en-US" sz="1200" dirty="0"/>
          </a:p>
        </p:txBody>
      </p:sp>
      <p:sp>
        <p:nvSpPr>
          <p:cNvPr id="15" name="sensory-2-title"/>
          <p:cNvSpPr txBox="1"/>
          <p:nvPr/>
        </p:nvSpPr>
        <p:spPr>
          <a:xfrm>
            <a:off x="4540250" y="2876550"/>
            <a:ext cx="3111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Враждебная plain-среда</a:t>
            </a:r>
            <a:endParaRPr lang="en-US" sz="2400" dirty="0"/>
          </a:p>
        </p:txBody>
      </p:sp>
      <p:sp>
        <p:nvSpPr>
          <p:cNvPr id="16" name="text"/>
          <p:cNvSpPr txBox="1"/>
          <p:nvPr/>
        </p:nvSpPr>
        <p:spPr>
          <a:xfrm>
            <a:off x="4540250" y="4152900"/>
            <a:ext cx="311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одна и та же архитектура</a:t>
            </a:r>
            <a:endParaRPr lang="en-US" sz="1200" dirty="0"/>
          </a:p>
        </p:txBody>
      </p:sp>
      <p:sp>
        <p:nvSpPr>
          <p:cNvPr id="17" name="sensory-3"/>
          <p:cNvSpPr/>
          <p:nvPr/>
        </p:nvSpPr>
        <p:spPr>
          <a:xfrm>
            <a:off x="8051800" y="2057400"/>
            <a:ext cx="3530600" cy="2590800"/>
          </a:xfrm>
          <a:prstGeom prst="rect">
            <a:avLst/>
          </a:prstGeom>
          <a:solidFill>
            <a:srgbClr val="DDE6EA"/>
          </a:solidFill>
          <a:ln w="28575">
            <a:solidFill>
              <a:srgbClr val="245B78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8261350" y="2266950"/>
            <a:ext cx="311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9" name="sensory-3-title"/>
          <p:cNvSpPr txBox="1"/>
          <p:nvPr/>
        </p:nvSpPr>
        <p:spPr>
          <a:xfrm>
            <a:off x="8261350" y="2876550"/>
            <a:ext cx="3111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Responsible Control</a:t>
            </a:r>
            <a:endParaRPr lang="en-US" sz="2400" dirty="0"/>
          </a:p>
        </p:txBody>
      </p:sp>
      <p:sp>
        <p:nvSpPr>
          <p:cNvPr id="20" name="text"/>
          <p:cNvSpPr txBox="1"/>
          <p:nvPr/>
        </p:nvSpPr>
        <p:spPr>
          <a:xfrm>
            <a:off x="8261350" y="4152900"/>
            <a:ext cx="311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одна и та же архитектура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609600" y="5219700"/>
            <a:ext cx="1028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Сравнение проводится в одном пространстве, чтобы не смешивать эффект архитектуры и декора.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Что намеренно не делаем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55</a:t>
            </a:r>
            <a:endParaRPr lang="en-US" sz="1050" dirty="0"/>
          </a:p>
        </p:txBody>
      </p:sp>
      <p:sp>
        <p:nvSpPr>
          <p:cNvPr id="9" name="scope-1-mark"/>
          <p:cNvSpPr txBox="1"/>
          <p:nvPr/>
        </p:nvSpPr>
        <p:spPr>
          <a:xfrm>
            <a:off x="609600" y="192405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10" name="scope-1"/>
          <p:cNvSpPr txBox="1"/>
          <p:nvPr/>
        </p:nvSpPr>
        <p:spPr>
          <a:xfrm>
            <a:off x="1047750" y="194310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финальное имя и логотип</a:t>
            </a:r>
            <a:endParaRPr lang="en-US" sz="1650" dirty="0"/>
          </a:p>
        </p:txBody>
      </p:sp>
      <p:sp>
        <p:nvSpPr>
          <p:cNvPr id="11" name="rule"/>
          <p:cNvSpPr/>
          <p:nvPr/>
        </p:nvSpPr>
        <p:spPr>
          <a:xfrm>
            <a:off x="1047750" y="262890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cope-2-mark"/>
          <p:cNvSpPr txBox="1"/>
          <p:nvPr/>
        </p:nvSpPr>
        <p:spPr>
          <a:xfrm>
            <a:off x="609600" y="285750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13" name="scope-2"/>
          <p:cNvSpPr txBox="1"/>
          <p:nvPr/>
        </p:nvSpPr>
        <p:spPr>
          <a:xfrm>
            <a:off x="1047750" y="287655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все вещества и все формы</a:t>
            </a:r>
            <a:endParaRPr lang="en-US" sz="1650" dirty="0"/>
          </a:p>
        </p:txBody>
      </p:sp>
      <p:sp>
        <p:nvSpPr>
          <p:cNvPr id="14" name="rule"/>
          <p:cNvSpPr/>
          <p:nvPr/>
        </p:nvSpPr>
        <p:spPr>
          <a:xfrm>
            <a:off x="1047750" y="356235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cope-3-mark"/>
          <p:cNvSpPr txBox="1"/>
          <p:nvPr/>
        </p:nvSpPr>
        <p:spPr>
          <a:xfrm>
            <a:off x="609600" y="379095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16" name="scope-3"/>
          <p:cNvSpPr txBox="1"/>
          <p:nvPr/>
        </p:nvSpPr>
        <p:spPr>
          <a:xfrm>
            <a:off x="1047750" y="381000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реальные рекомендации или дозовые пороги</a:t>
            </a:r>
            <a:endParaRPr lang="en-US" sz="1650" dirty="0"/>
          </a:p>
        </p:txBody>
      </p:sp>
      <p:sp>
        <p:nvSpPr>
          <p:cNvPr id="17" name="rule"/>
          <p:cNvSpPr/>
          <p:nvPr/>
        </p:nvSpPr>
        <p:spPr>
          <a:xfrm>
            <a:off x="1047750" y="449580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cope-4-mark"/>
          <p:cNvSpPr txBox="1"/>
          <p:nvPr/>
        </p:nvSpPr>
        <p:spPr>
          <a:xfrm>
            <a:off x="609600" y="472440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19" name="scope-4"/>
          <p:cNvSpPr txBox="1"/>
          <p:nvPr/>
        </p:nvSpPr>
        <p:spPr>
          <a:xfrm>
            <a:off x="1047750" y="474345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e-commerce и доставка</a:t>
            </a:r>
            <a:endParaRPr lang="en-US" sz="1650" dirty="0"/>
          </a:p>
        </p:txBody>
      </p:sp>
      <p:sp>
        <p:nvSpPr>
          <p:cNvPr id="20" name="rule"/>
          <p:cNvSpPr/>
          <p:nvPr/>
        </p:nvSpPr>
        <p:spPr>
          <a:xfrm>
            <a:off x="1047750" y="542925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cope-5-mark"/>
          <p:cNvSpPr txBox="1"/>
          <p:nvPr/>
        </p:nvSpPr>
        <p:spPr>
          <a:xfrm>
            <a:off x="6286500" y="192405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22" name="scope-5"/>
          <p:cNvSpPr txBox="1"/>
          <p:nvPr/>
        </p:nvSpPr>
        <p:spPr>
          <a:xfrm>
            <a:off x="6724650" y="194310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loyalty, social content и кампания запуска</a:t>
            </a:r>
            <a:endParaRPr lang="en-US" sz="1650" dirty="0"/>
          </a:p>
        </p:txBody>
      </p:sp>
      <p:sp>
        <p:nvSpPr>
          <p:cNvPr id="23" name="rule"/>
          <p:cNvSpPr/>
          <p:nvPr/>
        </p:nvSpPr>
        <p:spPr>
          <a:xfrm>
            <a:off x="6724650" y="262890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cope-6-mark"/>
          <p:cNvSpPr txBox="1"/>
          <p:nvPr/>
        </p:nvSpPr>
        <p:spPr>
          <a:xfrm>
            <a:off x="6286500" y="285750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25" name="scope-6"/>
          <p:cNvSpPr txBox="1"/>
          <p:nvPr/>
        </p:nvSpPr>
        <p:spPr>
          <a:xfrm>
            <a:off x="6724650" y="287655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controlled-consumption room</a:t>
            </a:r>
            <a:endParaRPr lang="en-US" sz="1650" dirty="0"/>
          </a:p>
        </p:txBody>
      </p:sp>
      <p:sp>
        <p:nvSpPr>
          <p:cNvPr id="26" name="rule"/>
          <p:cNvSpPr/>
          <p:nvPr/>
        </p:nvSpPr>
        <p:spPr>
          <a:xfrm>
            <a:off x="6724650" y="356235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cope-7-mark"/>
          <p:cNvSpPr txBox="1"/>
          <p:nvPr/>
        </p:nvSpPr>
        <p:spPr>
          <a:xfrm>
            <a:off x="6286500" y="379095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28" name="scope-7"/>
          <p:cNvSpPr txBox="1"/>
          <p:nvPr/>
        </p:nvSpPr>
        <p:spPr>
          <a:xfrm>
            <a:off x="6724650" y="381000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производственная инженерная документация</a:t>
            </a:r>
            <a:endParaRPr lang="en-US" sz="1650" dirty="0"/>
          </a:p>
        </p:txBody>
      </p:sp>
      <p:sp>
        <p:nvSpPr>
          <p:cNvPr id="29" name="rule"/>
          <p:cNvSpPr/>
          <p:nvPr/>
        </p:nvSpPr>
        <p:spPr>
          <a:xfrm>
            <a:off x="6724650" y="449580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cope-8-mark"/>
          <p:cNvSpPr txBox="1"/>
          <p:nvPr/>
        </p:nvSpPr>
        <p:spPr>
          <a:xfrm>
            <a:off x="6286500" y="4724400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×</a:t>
            </a:r>
            <a:endParaRPr lang="en-US" sz="2100" dirty="0"/>
          </a:p>
        </p:txBody>
      </p:sp>
      <p:sp>
        <p:nvSpPr>
          <p:cNvPr id="31" name="scope-8"/>
          <p:cNvSpPr txBox="1"/>
          <p:nvPr/>
        </p:nvSpPr>
        <p:spPr>
          <a:xfrm>
            <a:off x="6724650" y="474345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утверждение, что отсутствие музыки уже доказано</a:t>
            </a:r>
            <a:endParaRPr lang="en-US" sz="1650" dirty="0"/>
          </a:p>
        </p:txBody>
      </p:sp>
      <p:sp>
        <p:nvSpPr>
          <p:cNvPr id="32" name="rule"/>
          <p:cNvSpPr/>
          <p:nvPr/>
        </p:nvSpPr>
        <p:spPr>
          <a:xfrm>
            <a:off x="6724650" y="5429250"/>
            <a:ext cx="47815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Definition of Done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55</a:t>
            </a:r>
            <a:endParaRPr lang="en-US" sz="1050" dirty="0"/>
          </a:p>
        </p:txBody>
      </p:sp>
      <p:sp>
        <p:nvSpPr>
          <p:cNvPr id="9" name="check-1"/>
          <p:cNvSpPr/>
          <p:nvPr/>
        </p:nvSpPr>
        <p:spPr>
          <a:xfrm>
            <a:off x="609600" y="19145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10" name="check-1-text"/>
          <p:cNvSpPr txBox="1"/>
          <p:nvPr/>
        </p:nvSpPr>
        <p:spPr>
          <a:xfrm>
            <a:off x="952500" y="18859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Все носители используют одну последовательность данных.</a:t>
            </a:r>
            <a:endParaRPr lang="en-US" sz="1650" dirty="0"/>
          </a:p>
        </p:txBody>
      </p:sp>
      <p:sp>
        <p:nvSpPr>
          <p:cNvPr id="11" name="check-2"/>
          <p:cNvSpPr/>
          <p:nvPr/>
        </p:nvSpPr>
        <p:spPr>
          <a:xfrm>
            <a:off x="609600" y="27527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12" name="check-2-text"/>
          <p:cNvSpPr txBox="1"/>
          <p:nvPr/>
        </p:nvSpPr>
        <p:spPr>
          <a:xfrm>
            <a:off x="952500" y="27241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Ни один продукт не имеет эмоционального имени или особой презентации.</a:t>
            </a:r>
            <a:endParaRPr lang="en-US" sz="1650" dirty="0"/>
          </a:p>
        </p:txBody>
      </p:sp>
      <p:sp>
        <p:nvSpPr>
          <p:cNvPr id="13" name="check-3"/>
          <p:cNvSpPr/>
          <p:nvPr/>
        </p:nvSpPr>
        <p:spPr>
          <a:xfrm>
            <a:off x="609600" y="35909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14" name="check-3-text"/>
          <p:cNvSpPr txBox="1"/>
          <p:nvPr/>
        </p:nvSpPr>
        <p:spPr>
          <a:xfrm>
            <a:off x="952500" y="35623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Критический факт находится без QR.</a:t>
            </a:r>
            <a:endParaRPr lang="en-US" sz="1650" dirty="0"/>
          </a:p>
        </p:txBody>
      </p:sp>
      <p:sp>
        <p:nvSpPr>
          <p:cNvPr id="15" name="check-4"/>
          <p:cNvSpPr/>
          <p:nvPr/>
        </p:nvSpPr>
        <p:spPr>
          <a:xfrm>
            <a:off x="609600" y="44291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16" name="check-4-text"/>
          <p:cNvSpPr txBox="1"/>
          <p:nvPr/>
        </p:nvSpPr>
        <p:spPr>
          <a:xfrm>
            <a:off x="952500" y="44005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Информация и помощь доступны без транзакции.</a:t>
            </a:r>
            <a:endParaRPr lang="en-US" sz="1650" dirty="0"/>
          </a:p>
        </p:txBody>
      </p:sp>
      <p:sp>
        <p:nvSpPr>
          <p:cNvPr id="17" name="check-5"/>
          <p:cNvSpPr/>
          <p:nvPr/>
        </p:nvSpPr>
        <p:spPr>
          <a:xfrm>
            <a:off x="609600" y="52673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18" name="check-5-text"/>
          <p:cNvSpPr txBox="1"/>
          <p:nvPr/>
        </p:nvSpPr>
        <p:spPr>
          <a:xfrm>
            <a:off x="952500" y="52387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Сотрудник выдаёт, отказывает и завершает разговор без sales-языка.</a:t>
            </a:r>
            <a:endParaRPr lang="en-US" sz="1650" dirty="0"/>
          </a:p>
        </p:txBody>
      </p:sp>
      <p:sp>
        <p:nvSpPr>
          <p:cNvPr id="19" name="check-6"/>
          <p:cNvSpPr/>
          <p:nvPr/>
        </p:nvSpPr>
        <p:spPr>
          <a:xfrm>
            <a:off x="6286500" y="19145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20" name="check-6-text"/>
          <p:cNvSpPr txBox="1"/>
          <p:nvPr/>
        </p:nvSpPr>
        <p:spPr>
          <a:xfrm>
            <a:off x="6629400" y="18859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Свет, звук и материал описаны измеримыми гипотезами.</a:t>
            </a:r>
            <a:endParaRPr lang="en-US" sz="1650" dirty="0"/>
          </a:p>
        </p:txBody>
      </p:sp>
      <p:sp>
        <p:nvSpPr>
          <p:cNvPr id="21" name="check-7"/>
          <p:cNvSpPr/>
          <p:nvPr/>
        </p:nvSpPr>
        <p:spPr>
          <a:xfrm>
            <a:off x="6286500" y="27527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22" name="check-7-text"/>
          <p:cNvSpPr txBox="1"/>
          <p:nvPr/>
        </p:nvSpPr>
        <p:spPr>
          <a:xfrm>
            <a:off x="6629400" y="27241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Упаковка, пространство и digital прошли Anti-Brand Test.</a:t>
            </a:r>
            <a:endParaRPr lang="en-US" sz="1650" dirty="0"/>
          </a:p>
        </p:txBody>
      </p:sp>
      <p:sp>
        <p:nvSpPr>
          <p:cNvPr id="23" name="check-8"/>
          <p:cNvSpPr/>
          <p:nvPr/>
        </p:nvSpPr>
        <p:spPr>
          <a:xfrm>
            <a:off x="6286500" y="35909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24" name="check-8-text"/>
          <p:cNvSpPr txBox="1"/>
          <p:nvPr/>
        </p:nvSpPr>
        <p:spPr>
          <a:xfrm>
            <a:off x="6629400" y="35623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Проведено сравнительное тестирование.</a:t>
            </a:r>
            <a:endParaRPr lang="en-US" sz="1650" dirty="0"/>
          </a:p>
        </p:txBody>
      </p:sp>
      <p:sp>
        <p:nvSpPr>
          <p:cNvPr id="25" name="check-9"/>
          <p:cNvSpPr/>
          <p:nvPr/>
        </p:nvSpPr>
        <p:spPr>
          <a:xfrm>
            <a:off x="6286500" y="44291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26" name="check-9-text"/>
          <p:cNvSpPr txBox="1"/>
          <p:nvPr/>
        </p:nvSpPr>
        <p:spPr>
          <a:xfrm>
            <a:off x="6629400" y="44005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Нерешённые вопросы перенесены в Open Decisions.</a:t>
            </a:r>
            <a:endParaRPr lang="en-US" sz="1650" dirty="0"/>
          </a:p>
        </p:txBody>
      </p:sp>
      <p:sp>
        <p:nvSpPr>
          <p:cNvPr id="27" name="check-10"/>
          <p:cNvSpPr/>
          <p:nvPr/>
        </p:nvSpPr>
        <p:spPr>
          <a:xfrm>
            <a:off x="6286500" y="5267325"/>
            <a:ext cx="2095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45B78"/>
            </a:solidFill>
            <a:prstDash val="solid"/>
          </a:ln>
        </p:spPr>
      </p:sp>
      <p:sp>
        <p:nvSpPr>
          <p:cNvPr id="28" name="check-10-text"/>
          <p:cNvSpPr txBox="1"/>
          <p:nvPr/>
        </p:nvSpPr>
        <p:spPr>
          <a:xfrm>
            <a:off x="6629400" y="523875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Версия и владельцы решений зафиксированы.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MVP PROTOTYPE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97155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Итог MVP</a:t>
            </a:r>
            <a:endParaRPr lang="en-US" sz="36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55</a:t>
            </a:r>
            <a:endParaRPr lang="en-US" sz="1050" dirty="0"/>
          </a:p>
        </p:txBody>
      </p:sp>
      <p:sp>
        <p:nvSpPr>
          <p:cNvPr id="9" name="closing-rule"/>
          <p:cNvSpPr/>
          <p:nvPr/>
        </p:nvSpPr>
        <p:spPr>
          <a:xfrm>
            <a:off x="609600" y="2038350"/>
            <a:ext cx="76200" cy="2266950"/>
          </a:xfrm>
          <a:prstGeom prst="rect">
            <a:avLst/>
          </a:prstGeom>
          <a:solidFill>
            <a:srgbClr val="245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closing-statement"/>
          <p:cNvSpPr txBox="1"/>
          <p:nvPr/>
        </p:nvSpPr>
        <p:spPr>
          <a:xfrm>
            <a:off x="990600" y="1981200"/>
            <a:ext cx="88582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 связный прототип и короткий standards manual.</a:t>
            </a:r>
            <a:endParaRPr lang="en-US" sz="3600" dirty="0"/>
          </a:p>
        </p:txBody>
      </p:sp>
      <p:sp>
        <p:nvSpPr>
          <p:cNvPr id="11" name="closing-lead"/>
          <p:cNvSpPr txBox="1"/>
          <p:nvPr/>
        </p:nvSpPr>
        <p:spPr>
          <a:xfrm>
            <a:off x="990600" y="3295650"/>
            <a:ext cx="533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Достаточные, чтобы решить:</a:t>
            </a:r>
            <a:endParaRPr lang="en-US" sz="2400" dirty="0"/>
          </a:p>
        </p:txBody>
      </p:sp>
      <p:sp>
        <p:nvSpPr>
          <p:cNvPr id="12" name="text"/>
          <p:cNvSpPr txBox="1"/>
          <p:nvPr/>
        </p:nvSpPr>
        <p:spPr>
          <a:xfrm>
            <a:off x="990600" y="394335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350" dirty="0"/>
          </a:p>
        </p:txBody>
      </p:sp>
      <p:sp>
        <p:nvSpPr>
          <p:cNvPr id="13" name="decision-1"/>
          <p:cNvSpPr txBox="1"/>
          <p:nvPr/>
        </p:nvSpPr>
        <p:spPr>
          <a:xfrm>
            <a:off x="1600200" y="39243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продолжать ли систему</a:t>
            </a:r>
            <a:endParaRPr lang="en-US" sz="1650" dirty="0"/>
          </a:p>
        </p:txBody>
      </p:sp>
      <p:sp>
        <p:nvSpPr>
          <p:cNvPr id="14" name="text"/>
          <p:cNvSpPr txBox="1"/>
          <p:nvPr/>
        </p:nvSpPr>
        <p:spPr>
          <a:xfrm>
            <a:off x="990600" y="453390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350" dirty="0"/>
          </a:p>
        </p:txBody>
      </p:sp>
      <p:sp>
        <p:nvSpPr>
          <p:cNvPr id="15" name="decision-2"/>
          <p:cNvSpPr txBox="1"/>
          <p:nvPr/>
        </p:nvSpPr>
        <p:spPr>
          <a:xfrm>
            <a:off x="1600200" y="451485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какие правила выдержали проверку</a:t>
            </a:r>
            <a:endParaRPr lang="en-US" sz="1650" dirty="0"/>
          </a:p>
        </p:txBody>
      </p:sp>
      <p:sp>
        <p:nvSpPr>
          <p:cNvPr id="16" name="text"/>
          <p:cNvSpPr txBox="1"/>
          <p:nvPr/>
        </p:nvSpPr>
        <p:spPr>
          <a:xfrm>
            <a:off x="990600" y="5124450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decision-3"/>
          <p:cNvSpPr txBox="1"/>
          <p:nvPr/>
        </p:nvSpPr>
        <p:spPr>
          <a:xfrm>
            <a:off x="1600200" y="5105400"/>
            <a:ext cx="962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какие требуют отдельной клинической, правовой или дизайнерской работы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45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51435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VISUAL BRIEF</a:t>
            </a:r>
            <a:endParaRPr lang="en-US" sz="1350" dirty="0"/>
          </a:p>
        </p:txBody>
      </p:sp>
      <p:sp>
        <p:nvSpPr>
          <p:cNvPr id="3" name="section-title"/>
          <p:cNvSpPr txBox="1"/>
          <p:nvPr/>
        </p:nvSpPr>
        <p:spPr>
          <a:xfrm>
            <a:off x="609600" y="1847850"/>
            <a:ext cx="952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Solution frames</a:t>
            </a:r>
            <a:endParaRPr lang="en-US" sz="5400" dirty="0"/>
          </a:p>
        </p:txBody>
      </p:sp>
      <p:sp>
        <p:nvSpPr>
          <p:cNvPr id="4" name="section-subtitle"/>
          <p:cNvSpPr txBox="1"/>
          <p:nvPr/>
        </p:nvSpPr>
        <p:spPr>
          <a:xfrm>
            <a:off x="609600" y="3162300"/>
            <a:ext cx="8858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Функция, носитель и обязательный ракурс заданы. Визуальное решение остаётся открытым.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6B87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55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PACKAGING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Форма различает семейства без статуса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55</a:t>
            </a:r>
            <a:endParaRPr lang="en-US" sz="1050" dirty="0"/>
          </a:p>
        </p:txBody>
      </p:sp>
      <p:sp>
        <p:nvSpPr>
          <p:cNvPr id="9" name="shot-26a"/>
          <p:cNvSpPr/>
          <p:nvPr/>
        </p:nvSpPr>
        <p:spPr>
          <a:xfrm>
            <a:off x="6096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26a-label"/>
          <p:cNvSpPr txBox="1"/>
          <p:nvPr/>
        </p:nvSpPr>
        <p:spPr>
          <a:xfrm>
            <a:off x="8191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FAMILY A · FRONT</a:t>
            </a:r>
            <a:endParaRPr lang="en-US" sz="1125" dirty="0"/>
          </a:p>
        </p:txBody>
      </p:sp>
      <p:sp>
        <p:nvSpPr>
          <p:cNvPr id="11" name="shot-26a-brief"/>
          <p:cNvSpPr txBox="1"/>
          <p:nvPr/>
        </p:nvSpPr>
        <p:spPr>
          <a:xfrm>
            <a:off x="8191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Жидкость</a:t>
            </a:r>
            <a:endParaRPr lang="en-US" sz="1875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условная форма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26a-spec"/>
          <p:cNvSpPr txBox="1"/>
          <p:nvPr/>
        </p:nvSpPr>
        <p:spPr>
          <a:xfrm>
            <a:off x="8191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90° · без перспективы · единый масштаб</a:t>
            </a:r>
            <a:endParaRPr lang="en-US" sz="1050" dirty="0"/>
          </a:p>
        </p:txBody>
      </p:sp>
      <p:sp>
        <p:nvSpPr>
          <p:cNvPr id="14" name="shot-26a-purpose"/>
          <p:cNvSpPr txBox="1"/>
          <p:nvPr/>
        </p:nvSpPr>
        <p:spPr>
          <a:xfrm>
            <a:off x="8191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силуэт и площадь информации</a:t>
            </a:r>
            <a:endParaRPr lang="en-US" sz="1125" dirty="0"/>
          </a:p>
        </p:txBody>
      </p:sp>
      <p:sp>
        <p:nvSpPr>
          <p:cNvPr id="15" name="shot-26b"/>
          <p:cNvSpPr/>
          <p:nvPr/>
        </p:nvSpPr>
        <p:spPr>
          <a:xfrm>
            <a:off x="43307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26b-label"/>
          <p:cNvSpPr txBox="1"/>
          <p:nvPr/>
        </p:nvSpPr>
        <p:spPr>
          <a:xfrm>
            <a:off x="45402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FAMILY B · FRONT</a:t>
            </a:r>
            <a:endParaRPr lang="en-US" sz="1125" dirty="0"/>
          </a:p>
        </p:txBody>
      </p:sp>
      <p:sp>
        <p:nvSpPr>
          <p:cNvPr id="17" name="shot-26b-brief"/>
          <p:cNvSpPr txBox="1"/>
          <p:nvPr/>
        </p:nvSpPr>
        <p:spPr>
          <a:xfrm>
            <a:off x="45402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Набор единиц</a:t>
            </a:r>
            <a:endParaRPr lang="en-US" sz="1875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условная пачка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45402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26b-spec"/>
          <p:cNvSpPr txBox="1"/>
          <p:nvPr/>
        </p:nvSpPr>
        <p:spPr>
          <a:xfrm>
            <a:off x="45402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90° · без перспективы · единый масштаб</a:t>
            </a:r>
            <a:endParaRPr lang="en-US" sz="1050" dirty="0"/>
          </a:p>
        </p:txBody>
      </p:sp>
      <p:sp>
        <p:nvSpPr>
          <p:cNvPr id="20" name="shot-26b-purpose"/>
          <p:cNvSpPr txBox="1"/>
          <p:nvPr/>
        </p:nvSpPr>
        <p:spPr>
          <a:xfrm>
            <a:off x="45402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силуэт и площадь информации</a:t>
            </a:r>
            <a:endParaRPr lang="en-US" sz="1125" dirty="0"/>
          </a:p>
        </p:txBody>
      </p:sp>
      <p:sp>
        <p:nvSpPr>
          <p:cNvPr id="21" name="shot-26c"/>
          <p:cNvSpPr/>
          <p:nvPr/>
        </p:nvSpPr>
        <p:spPr>
          <a:xfrm>
            <a:off x="80518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26c-label"/>
          <p:cNvSpPr txBox="1"/>
          <p:nvPr/>
        </p:nvSpPr>
        <p:spPr>
          <a:xfrm>
            <a:off x="82613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FAMILY C · FRONT</a:t>
            </a:r>
            <a:endParaRPr lang="en-US" sz="1125" dirty="0"/>
          </a:p>
        </p:txBody>
      </p:sp>
      <p:sp>
        <p:nvSpPr>
          <p:cNvPr id="23" name="shot-26c-brief"/>
          <p:cNvSpPr txBox="1"/>
          <p:nvPr/>
        </p:nvSpPr>
        <p:spPr>
          <a:xfrm>
            <a:off x="82613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Контролируемая</a:t>
            </a:r>
            <a:endParaRPr lang="en-US" sz="1875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единица</a:t>
            </a:r>
            <a:endParaRPr lang="en-US" sz="1875" dirty="0"/>
          </a:p>
        </p:txBody>
      </p:sp>
      <p:sp>
        <p:nvSpPr>
          <p:cNvPr id="24" name="rule"/>
          <p:cNvSpPr/>
          <p:nvPr/>
        </p:nvSpPr>
        <p:spPr>
          <a:xfrm>
            <a:off x="82613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26c-spec"/>
          <p:cNvSpPr txBox="1"/>
          <p:nvPr/>
        </p:nvSpPr>
        <p:spPr>
          <a:xfrm>
            <a:off x="82613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90° · без перспективы · единый масштаб</a:t>
            </a:r>
            <a:endParaRPr lang="en-US" sz="1050" dirty="0"/>
          </a:p>
        </p:txBody>
      </p:sp>
      <p:sp>
        <p:nvSpPr>
          <p:cNvPr id="26" name="shot-26c-purpose"/>
          <p:cNvSpPr txBox="1"/>
          <p:nvPr/>
        </p:nvSpPr>
        <p:spPr>
          <a:xfrm>
            <a:off x="82613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силуэт и площадь информации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PACKAGING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Для жидкости обязательны три вида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55</a:t>
            </a:r>
            <a:endParaRPr lang="en-US" sz="1050" dirty="0"/>
          </a:p>
        </p:txBody>
      </p:sp>
      <p:sp>
        <p:nvSpPr>
          <p:cNvPr id="9" name="shot-27a"/>
          <p:cNvSpPr/>
          <p:nvPr/>
        </p:nvSpPr>
        <p:spPr>
          <a:xfrm>
            <a:off x="609600" y="1924050"/>
            <a:ext cx="6953250" cy="38100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27a-label"/>
          <p:cNvSpPr txBox="1"/>
          <p:nvPr/>
        </p:nvSpPr>
        <p:spPr>
          <a:xfrm>
            <a:off x="819150" y="211455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 01 · FRONT</a:t>
            </a:r>
            <a:endParaRPr lang="en-US" sz="1125" dirty="0"/>
          </a:p>
        </p:txBody>
      </p:sp>
      <p:sp>
        <p:nvSpPr>
          <p:cNvPr id="11" name="shot-27a-brief"/>
          <p:cNvSpPr txBox="1"/>
          <p:nvPr/>
        </p:nvSpPr>
        <p:spPr>
          <a:xfrm>
            <a:off x="819150" y="2457450"/>
            <a:ext cx="65341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Жидкая форма</a:t>
            </a:r>
            <a:endParaRPr lang="en-US" sz="1875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лицевая сторона целиком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857750"/>
            <a:ext cx="65341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27a-spec"/>
          <p:cNvSpPr txBox="1"/>
          <p:nvPr/>
        </p:nvSpPr>
        <p:spPr>
          <a:xfrm>
            <a:off x="819150" y="495300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камера 90° · ось по центру · нейтральный фон</a:t>
            </a:r>
            <a:endParaRPr lang="en-US" sz="1050" dirty="0"/>
          </a:p>
        </p:txBody>
      </p:sp>
      <p:sp>
        <p:nvSpPr>
          <p:cNvPr id="14" name="shot-27a-purpose"/>
          <p:cNvSpPr txBox="1"/>
          <p:nvPr/>
        </p:nvSpPr>
        <p:spPr>
          <a:xfrm>
            <a:off x="819150" y="5219700"/>
            <a:ext cx="6534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порядок данных и размер риска</a:t>
            </a:r>
            <a:endParaRPr lang="en-US" sz="1125" dirty="0"/>
          </a:p>
        </p:txBody>
      </p:sp>
      <p:sp>
        <p:nvSpPr>
          <p:cNvPr id="15" name="shot-27b"/>
          <p:cNvSpPr/>
          <p:nvPr/>
        </p:nvSpPr>
        <p:spPr>
          <a:xfrm>
            <a:off x="7753350" y="192405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27b-label"/>
          <p:cNvSpPr txBox="1"/>
          <p:nvPr/>
        </p:nvSpPr>
        <p:spPr>
          <a:xfrm>
            <a:off x="7905750" y="20574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 02 · BACK</a:t>
            </a:r>
            <a:endParaRPr lang="en-US" sz="975" dirty="0"/>
          </a:p>
        </p:txBody>
      </p:sp>
      <p:sp>
        <p:nvSpPr>
          <p:cNvPr id="17" name="shot-27b-brief"/>
          <p:cNvSpPr txBox="1"/>
          <p:nvPr/>
        </p:nvSpPr>
        <p:spPr>
          <a:xfrm>
            <a:off x="7905750" y="232410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Оборотная информационная зона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7905750" y="304800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27b-spec"/>
          <p:cNvSpPr txBox="1"/>
          <p:nvPr/>
        </p:nvSpPr>
        <p:spPr>
          <a:xfrm>
            <a:off x="7905750" y="31242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90° · тот же масштаб</a:t>
            </a:r>
            <a:endParaRPr lang="en-US" sz="900" dirty="0"/>
          </a:p>
        </p:txBody>
      </p:sp>
      <p:sp>
        <p:nvSpPr>
          <p:cNvPr id="20" name="shot-27b-purpose"/>
          <p:cNvSpPr txBox="1"/>
          <p:nvPr/>
        </p:nvSpPr>
        <p:spPr>
          <a:xfrm>
            <a:off x="7905750" y="33528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состав, взаимодействия и помощь</a:t>
            </a:r>
            <a:endParaRPr lang="en-US" sz="900" dirty="0"/>
          </a:p>
        </p:txBody>
      </p:sp>
      <p:sp>
        <p:nvSpPr>
          <p:cNvPr id="21" name="shot-27c"/>
          <p:cNvSpPr/>
          <p:nvPr/>
        </p:nvSpPr>
        <p:spPr>
          <a:xfrm>
            <a:off x="7753350" y="392430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27c-label"/>
          <p:cNvSpPr txBox="1"/>
          <p:nvPr/>
        </p:nvSpPr>
        <p:spPr>
          <a:xfrm>
            <a:off x="7905750" y="40576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01 · CLOSURE</a:t>
            </a:r>
            <a:endParaRPr lang="en-US" sz="975" dirty="0"/>
          </a:p>
        </p:txBody>
      </p:sp>
      <p:sp>
        <p:nvSpPr>
          <p:cNvPr id="23" name="shot-27c-brief"/>
          <p:cNvSpPr txBox="1"/>
          <p:nvPr/>
        </p:nvSpPr>
        <p:spPr>
          <a:xfrm>
            <a:off x="7905750" y="432435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Крышка и признак первого вскрытия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905750" y="504825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27c-spec"/>
          <p:cNvSpPr txBox="1"/>
          <p:nvPr/>
        </p:nvSpPr>
        <p:spPr>
          <a:xfrm>
            <a:off x="7905750" y="51244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макро 1:1 · ровный свет</a:t>
            </a:r>
            <a:endParaRPr lang="en-US" sz="900" dirty="0"/>
          </a:p>
        </p:txBody>
      </p:sp>
      <p:sp>
        <p:nvSpPr>
          <p:cNvPr id="26" name="shot-27c-purpose"/>
          <p:cNvSpPr txBox="1"/>
          <p:nvPr/>
        </p:nvSpPr>
        <p:spPr>
          <a:xfrm>
            <a:off x="7905750" y="535305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показать защитную функцию без product glam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PACKAGING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Набор единиц показывает обе суммы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55</a:t>
            </a:r>
            <a:endParaRPr lang="en-US" sz="1050" dirty="0"/>
          </a:p>
        </p:txBody>
      </p:sp>
      <p:sp>
        <p:nvSpPr>
          <p:cNvPr id="9" name="shot-28a"/>
          <p:cNvSpPr/>
          <p:nvPr/>
        </p:nvSpPr>
        <p:spPr>
          <a:xfrm>
            <a:off x="609600" y="1924050"/>
            <a:ext cx="6953250" cy="38100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28a-label"/>
          <p:cNvSpPr txBox="1"/>
          <p:nvPr/>
        </p:nvSpPr>
        <p:spPr>
          <a:xfrm>
            <a:off x="819150" y="211455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 01 · CLOSED FRONT</a:t>
            </a:r>
            <a:endParaRPr lang="en-US" sz="1125" dirty="0"/>
          </a:p>
        </p:txBody>
      </p:sp>
      <p:sp>
        <p:nvSpPr>
          <p:cNvPr id="11" name="shot-28a-brief"/>
          <p:cNvSpPr txBox="1"/>
          <p:nvPr/>
        </p:nvSpPr>
        <p:spPr>
          <a:xfrm>
            <a:off x="819150" y="2457450"/>
            <a:ext cx="65341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Закрытая пачка</a:t>
            </a:r>
            <a:endParaRPr lang="en-US" sz="1875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лицевая сторона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857750"/>
            <a:ext cx="65341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28a-spec"/>
          <p:cNvSpPr txBox="1"/>
          <p:nvPr/>
        </p:nvSpPr>
        <p:spPr>
          <a:xfrm>
            <a:off x="819150" y="495300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90° · без перспективы · нейтральный фон</a:t>
            </a:r>
            <a:endParaRPr lang="en-US" sz="1050" dirty="0"/>
          </a:p>
        </p:txBody>
      </p:sp>
      <p:sp>
        <p:nvSpPr>
          <p:cNvPr id="14" name="shot-28a-purpose"/>
          <p:cNvSpPr txBox="1"/>
          <p:nvPr/>
        </p:nvSpPr>
        <p:spPr>
          <a:xfrm>
            <a:off x="819150" y="5219700"/>
            <a:ext cx="6534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сопоставить содержание на единицу и сумму</a:t>
            </a:r>
            <a:endParaRPr lang="en-US" sz="1125" dirty="0"/>
          </a:p>
        </p:txBody>
      </p:sp>
      <p:sp>
        <p:nvSpPr>
          <p:cNvPr id="15" name="shot-28b"/>
          <p:cNvSpPr/>
          <p:nvPr/>
        </p:nvSpPr>
        <p:spPr>
          <a:xfrm>
            <a:off x="7753350" y="192405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28b-label"/>
          <p:cNvSpPr txBox="1"/>
          <p:nvPr/>
        </p:nvSpPr>
        <p:spPr>
          <a:xfrm>
            <a:off x="7905750" y="20574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 02 · OPEN 3/4</a:t>
            </a:r>
            <a:endParaRPr lang="en-US" sz="975" dirty="0"/>
          </a:p>
        </p:txBody>
      </p:sp>
      <p:sp>
        <p:nvSpPr>
          <p:cNvPr id="17" name="shot-28b-brief"/>
          <p:cNvSpPr txBox="1"/>
          <p:nvPr/>
        </p:nvSpPr>
        <p:spPr>
          <a:xfrm>
            <a:off x="7905750" y="232410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Пачка открыта на 45°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7905750" y="304800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28b-spec"/>
          <p:cNvSpPr txBox="1"/>
          <p:nvPr/>
        </p:nvSpPr>
        <p:spPr>
          <a:xfrm>
            <a:off x="7905750" y="31242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объектив 50 мм · без руки</a:t>
            </a:r>
            <a:endParaRPr lang="en-US" sz="900" dirty="0"/>
          </a:p>
        </p:txBody>
      </p:sp>
      <p:sp>
        <p:nvSpPr>
          <p:cNvPr id="20" name="shot-28b-purpose"/>
          <p:cNvSpPr txBox="1"/>
          <p:nvPr/>
        </p:nvSpPr>
        <p:spPr>
          <a:xfrm>
            <a:off x="7905750" y="33528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показать количество и способ хранения</a:t>
            </a:r>
            <a:endParaRPr lang="en-US" sz="900" dirty="0"/>
          </a:p>
        </p:txBody>
      </p:sp>
      <p:sp>
        <p:nvSpPr>
          <p:cNvPr id="21" name="shot-28c"/>
          <p:cNvSpPr/>
          <p:nvPr/>
        </p:nvSpPr>
        <p:spPr>
          <a:xfrm>
            <a:off x="7753350" y="392430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28c-label"/>
          <p:cNvSpPr txBox="1"/>
          <p:nvPr/>
        </p:nvSpPr>
        <p:spPr>
          <a:xfrm>
            <a:off x="7905750" y="40576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01 · UNIT</a:t>
            </a:r>
            <a:endParaRPr lang="en-US" sz="975" dirty="0"/>
          </a:p>
        </p:txBody>
      </p:sp>
      <p:sp>
        <p:nvSpPr>
          <p:cNvPr id="23" name="shot-28c-brief"/>
          <p:cNvSpPr txBox="1"/>
          <p:nvPr/>
        </p:nvSpPr>
        <p:spPr>
          <a:xfrm>
            <a:off x="7905750" y="432435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Одна единица и обязательная маркировка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905750" y="504825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28c-spec"/>
          <p:cNvSpPr txBox="1"/>
          <p:nvPr/>
        </p:nvSpPr>
        <p:spPr>
          <a:xfrm>
            <a:off x="7905750" y="51244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макро 1:1 · фронтально</a:t>
            </a:r>
            <a:endParaRPr lang="en-US" sz="900" dirty="0"/>
          </a:p>
        </p:txBody>
      </p:sp>
      <p:sp>
        <p:nvSpPr>
          <p:cNvPr id="26" name="shot-28c-purpose"/>
          <p:cNvSpPr txBox="1"/>
          <p:nvPr/>
        </p:nvSpPr>
        <p:spPr>
          <a:xfrm>
            <a:off x="7905750" y="535305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различимость без уникального рисунка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PACKAGING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Защита не должна выглядеть премиально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 / 55</a:t>
            </a:r>
            <a:endParaRPr lang="en-US" sz="1050" dirty="0"/>
          </a:p>
        </p:txBody>
      </p:sp>
      <p:sp>
        <p:nvSpPr>
          <p:cNvPr id="9" name="shot-29a"/>
          <p:cNvSpPr/>
          <p:nvPr/>
        </p:nvSpPr>
        <p:spPr>
          <a:xfrm>
            <a:off x="609600" y="1924050"/>
            <a:ext cx="6953250" cy="38100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29a-label"/>
          <p:cNvSpPr txBox="1"/>
          <p:nvPr/>
        </p:nvSpPr>
        <p:spPr>
          <a:xfrm>
            <a:off x="819150" y="211455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 01 · FRONT</a:t>
            </a:r>
            <a:endParaRPr lang="en-US" sz="1125" dirty="0"/>
          </a:p>
        </p:txBody>
      </p:sp>
      <p:sp>
        <p:nvSpPr>
          <p:cNvPr id="11" name="shot-29a-brief"/>
          <p:cNvSpPr txBox="1"/>
          <p:nvPr/>
        </p:nvSpPr>
        <p:spPr>
          <a:xfrm>
            <a:off x="819150" y="2457450"/>
            <a:ext cx="65341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Защищённый контейнер</a:t>
            </a:r>
            <a:endParaRPr lang="en-US" sz="1875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лицевая сторона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857750"/>
            <a:ext cx="65341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29a-spec"/>
          <p:cNvSpPr txBox="1"/>
          <p:nvPr/>
        </p:nvSpPr>
        <p:spPr>
          <a:xfrm>
            <a:off x="819150" y="495300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90° · ось по центру · обычная поверхность</a:t>
            </a:r>
            <a:endParaRPr lang="en-US" sz="1050" dirty="0"/>
          </a:p>
        </p:txBody>
      </p:sp>
      <p:sp>
        <p:nvSpPr>
          <p:cNvPr id="14" name="shot-29a-purpose"/>
          <p:cNvSpPr txBox="1"/>
          <p:nvPr/>
        </p:nvSpPr>
        <p:spPr>
          <a:xfrm>
            <a:off x="819150" y="5219700"/>
            <a:ext cx="6534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идентификацию до механики</a:t>
            </a:r>
            <a:endParaRPr lang="en-US" sz="1125" dirty="0"/>
          </a:p>
        </p:txBody>
      </p:sp>
      <p:sp>
        <p:nvSpPr>
          <p:cNvPr id="15" name="shot-29b"/>
          <p:cNvSpPr/>
          <p:nvPr/>
        </p:nvSpPr>
        <p:spPr>
          <a:xfrm>
            <a:off x="7753350" y="192405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29b-label"/>
          <p:cNvSpPr txBox="1"/>
          <p:nvPr/>
        </p:nvSpPr>
        <p:spPr>
          <a:xfrm>
            <a:off x="7905750" y="20574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 02 · 3/4</a:t>
            </a:r>
            <a:endParaRPr lang="en-US" sz="975" dirty="0"/>
          </a:p>
        </p:txBody>
      </p:sp>
      <p:sp>
        <p:nvSpPr>
          <p:cNvPr id="17" name="shot-29b-brief"/>
          <p:cNvSpPr txBox="1"/>
          <p:nvPr/>
        </p:nvSpPr>
        <p:spPr>
          <a:xfrm>
            <a:off x="7905750" y="232410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Объём и рабочая геометрия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7905750" y="304800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29b-spec"/>
          <p:cNvSpPr txBox="1"/>
          <p:nvPr/>
        </p:nvSpPr>
        <p:spPr>
          <a:xfrm>
            <a:off x="7905750" y="31242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45° · объектив 50 мм</a:t>
            </a:r>
            <a:endParaRPr lang="en-US" sz="900" dirty="0"/>
          </a:p>
        </p:txBody>
      </p:sp>
      <p:sp>
        <p:nvSpPr>
          <p:cNvPr id="20" name="shot-29b-purpose"/>
          <p:cNvSpPr txBox="1"/>
          <p:nvPr/>
        </p:nvSpPr>
        <p:spPr>
          <a:xfrm>
            <a:off x="7905750" y="33528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показать форму как следствие функции</a:t>
            </a:r>
            <a:endParaRPr lang="en-US" sz="900" dirty="0"/>
          </a:p>
        </p:txBody>
      </p:sp>
      <p:sp>
        <p:nvSpPr>
          <p:cNvPr id="21" name="shot-29c"/>
          <p:cNvSpPr/>
          <p:nvPr/>
        </p:nvSpPr>
        <p:spPr>
          <a:xfrm>
            <a:off x="7753350" y="392430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29c-label"/>
          <p:cNvSpPr txBox="1"/>
          <p:nvPr/>
        </p:nvSpPr>
        <p:spPr>
          <a:xfrm>
            <a:off x="7905750" y="40576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01 · SAFETY</a:t>
            </a:r>
            <a:endParaRPr lang="en-US" sz="975" dirty="0"/>
          </a:p>
        </p:txBody>
      </p:sp>
      <p:sp>
        <p:nvSpPr>
          <p:cNvPr id="23" name="shot-29c-brief"/>
          <p:cNvSpPr txBox="1"/>
          <p:nvPr/>
        </p:nvSpPr>
        <p:spPr>
          <a:xfrm>
            <a:off x="7905750" y="432435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Child-resistant / tamper-evident узел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905750" y="504825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29c-spec"/>
          <p:cNvSpPr txBox="1"/>
          <p:nvPr/>
        </p:nvSpPr>
        <p:spPr>
          <a:xfrm>
            <a:off x="7905750" y="51244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макро 1:1 · без драматического света</a:t>
            </a:r>
            <a:endParaRPr lang="en-US" sz="900" dirty="0"/>
          </a:p>
        </p:txBody>
      </p:sp>
      <p:sp>
        <p:nvSpPr>
          <p:cNvPr id="26" name="shot-29c-purpose"/>
          <p:cNvSpPr txBox="1"/>
          <p:nvPr/>
        </p:nvSpPr>
        <p:spPr>
          <a:xfrm>
            <a:off x="7905750" y="535305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объяснить защиту и точку проверки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PACKAGING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Одна лицевая грамматика для всех семейств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 / 55</a:t>
            </a:r>
            <a:endParaRPr lang="en-US" sz="1050" dirty="0"/>
          </a:p>
        </p:txBody>
      </p:sp>
      <p:sp>
        <p:nvSpPr>
          <p:cNvPr id="9" name="shot-30a"/>
          <p:cNvSpPr/>
          <p:nvPr/>
        </p:nvSpPr>
        <p:spPr>
          <a:xfrm>
            <a:off x="6096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0a-label"/>
          <p:cNvSpPr txBox="1"/>
          <p:nvPr/>
        </p:nvSpPr>
        <p:spPr>
          <a:xfrm>
            <a:off x="8191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FRONT A · LIQUID</a:t>
            </a:r>
            <a:endParaRPr lang="en-US" sz="1125" dirty="0"/>
          </a:p>
        </p:txBody>
      </p:sp>
      <p:sp>
        <p:nvSpPr>
          <p:cNvPr id="11" name="shot-30a-brief"/>
          <p:cNvSpPr txBox="1"/>
          <p:nvPr/>
        </p:nvSpPr>
        <p:spPr>
          <a:xfrm>
            <a:off x="8191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Класс → форма → число → риск → партия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0a-spec"/>
          <p:cNvSpPr txBox="1"/>
          <p:nvPr/>
        </p:nvSpPr>
        <p:spPr>
          <a:xfrm>
            <a:off x="8191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flat artwork · без тары</a:t>
            </a:r>
            <a:endParaRPr lang="en-US" sz="1050" dirty="0"/>
          </a:p>
        </p:txBody>
      </p:sp>
      <p:sp>
        <p:nvSpPr>
          <p:cNvPr id="14" name="shot-30a-purpose"/>
          <p:cNvSpPr txBox="1"/>
          <p:nvPr/>
        </p:nvSpPr>
        <p:spPr>
          <a:xfrm>
            <a:off x="8191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положение обязательных зон</a:t>
            </a:r>
            <a:endParaRPr lang="en-US" sz="1125" dirty="0"/>
          </a:p>
        </p:txBody>
      </p:sp>
      <p:sp>
        <p:nvSpPr>
          <p:cNvPr id="15" name="shot-30b"/>
          <p:cNvSpPr/>
          <p:nvPr/>
        </p:nvSpPr>
        <p:spPr>
          <a:xfrm>
            <a:off x="43307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0b-label"/>
          <p:cNvSpPr txBox="1"/>
          <p:nvPr/>
        </p:nvSpPr>
        <p:spPr>
          <a:xfrm>
            <a:off x="45402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FRONT B · UNITS</a:t>
            </a:r>
            <a:endParaRPr lang="en-US" sz="1125" dirty="0"/>
          </a:p>
        </p:txBody>
      </p:sp>
      <p:sp>
        <p:nvSpPr>
          <p:cNvPr id="17" name="shot-30b-brief"/>
          <p:cNvSpPr txBox="1"/>
          <p:nvPr/>
        </p:nvSpPr>
        <p:spPr>
          <a:xfrm>
            <a:off x="45402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Класс → форма → число → риск → партия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45402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0b-spec"/>
          <p:cNvSpPr txBox="1"/>
          <p:nvPr/>
        </p:nvSpPr>
        <p:spPr>
          <a:xfrm>
            <a:off x="45402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flat artwork · без тары</a:t>
            </a:r>
            <a:endParaRPr lang="en-US" sz="1050" dirty="0"/>
          </a:p>
        </p:txBody>
      </p:sp>
      <p:sp>
        <p:nvSpPr>
          <p:cNvPr id="20" name="shot-30b-purpose"/>
          <p:cNvSpPr txBox="1"/>
          <p:nvPr/>
        </p:nvSpPr>
        <p:spPr>
          <a:xfrm>
            <a:off x="45402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положение обязательных зон</a:t>
            </a:r>
            <a:endParaRPr lang="en-US" sz="1125" dirty="0"/>
          </a:p>
        </p:txBody>
      </p:sp>
      <p:sp>
        <p:nvSpPr>
          <p:cNvPr id="21" name="shot-30c"/>
          <p:cNvSpPr/>
          <p:nvPr/>
        </p:nvSpPr>
        <p:spPr>
          <a:xfrm>
            <a:off x="80518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30c-label"/>
          <p:cNvSpPr txBox="1"/>
          <p:nvPr/>
        </p:nvSpPr>
        <p:spPr>
          <a:xfrm>
            <a:off x="82613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FRONT C · CONTROLLED</a:t>
            </a:r>
            <a:endParaRPr lang="en-US" sz="1125" dirty="0"/>
          </a:p>
        </p:txBody>
      </p:sp>
      <p:sp>
        <p:nvSpPr>
          <p:cNvPr id="23" name="shot-30c-brief"/>
          <p:cNvSpPr txBox="1"/>
          <p:nvPr/>
        </p:nvSpPr>
        <p:spPr>
          <a:xfrm>
            <a:off x="82613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Класс → форма → число → риск → партия</a:t>
            </a:r>
            <a:endParaRPr lang="en-US" sz="1875" dirty="0"/>
          </a:p>
        </p:txBody>
      </p:sp>
      <p:sp>
        <p:nvSpPr>
          <p:cNvPr id="24" name="rule"/>
          <p:cNvSpPr/>
          <p:nvPr/>
        </p:nvSpPr>
        <p:spPr>
          <a:xfrm>
            <a:off x="82613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30c-spec"/>
          <p:cNvSpPr txBox="1"/>
          <p:nvPr/>
        </p:nvSpPr>
        <p:spPr>
          <a:xfrm>
            <a:off x="82613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flat artwork · без тары</a:t>
            </a:r>
            <a:endParaRPr lang="en-US" sz="1050" dirty="0"/>
          </a:p>
        </p:txBody>
      </p:sp>
      <p:sp>
        <p:nvSpPr>
          <p:cNvPr id="26" name="shot-30c-purpose"/>
          <p:cNvSpPr txBox="1"/>
          <p:nvPr/>
        </p:nvSpPr>
        <p:spPr>
          <a:xfrm>
            <a:off x="82613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положение обязательных зон</a:t>
            </a:r>
            <a:endParaRPr lang="en-US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PACKAGING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Партия, QR и отзыв — технический слой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31 / 55</a:t>
            </a:r>
            <a:endParaRPr lang="en-US" sz="1050" dirty="0"/>
          </a:p>
        </p:txBody>
      </p:sp>
      <p:sp>
        <p:nvSpPr>
          <p:cNvPr id="9" name="shot-31a"/>
          <p:cNvSpPr/>
          <p:nvPr/>
        </p:nvSpPr>
        <p:spPr>
          <a:xfrm>
            <a:off x="609600" y="192405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1a-label"/>
          <p:cNvSpPr txBox="1"/>
          <p:nvPr/>
        </p:nvSpPr>
        <p:spPr>
          <a:xfrm>
            <a:off x="762000" y="2057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01 · BATCH</a:t>
            </a:r>
            <a:endParaRPr lang="en-US" sz="975" dirty="0"/>
          </a:p>
        </p:txBody>
      </p:sp>
      <p:sp>
        <p:nvSpPr>
          <p:cNvPr id="11" name="shot-31a-brief"/>
          <p:cNvSpPr txBox="1"/>
          <p:nvPr/>
        </p:nvSpPr>
        <p:spPr>
          <a:xfrm>
            <a:off x="762000" y="232410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Машинно читаемый код партии</a:t>
            </a:r>
            <a:endParaRPr lang="en-US" sz="1425" dirty="0"/>
          </a:p>
        </p:txBody>
      </p:sp>
      <p:sp>
        <p:nvSpPr>
          <p:cNvPr id="12" name="rule"/>
          <p:cNvSpPr/>
          <p:nvPr/>
        </p:nvSpPr>
        <p:spPr>
          <a:xfrm>
            <a:off x="762000" y="304800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1a-spec"/>
          <p:cNvSpPr txBox="1"/>
          <p:nvPr/>
        </p:nvSpPr>
        <p:spPr>
          <a:xfrm>
            <a:off x="762000" y="31242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макро 1:1 · высокая резкость</a:t>
            </a:r>
            <a:endParaRPr lang="en-US" sz="900" dirty="0"/>
          </a:p>
        </p:txBody>
      </p:sp>
      <p:sp>
        <p:nvSpPr>
          <p:cNvPr id="14" name="shot-31a-purpose"/>
          <p:cNvSpPr txBox="1"/>
          <p:nvPr/>
        </p:nvSpPr>
        <p:spPr>
          <a:xfrm>
            <a:off x="762000" y="335280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поиск без аккаунта</a:t>
            </a:r>
            <a:endParaRPr lang="en-US" sz="900" dirty="0"/>
          </a:p>
        </p:txBody>
      </p:sp>
      <p:sp>
        <p:nvSpPr>
          <p:cNvPr id="15" name="shot-31b"/>
          <p:cNvSpPr/>
          <p:nvPr/>
        </p:nvSpPr>
        <p:spPr>
          <a:xfrm>
            <a:off x="6191250" y="192405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1b-label"/>
          <p:cNvSpPr txBox="1"/>
          <p:nvPr/>
        </p:nvSpPr>
        <p:spPr>
          <a:xfrm>
            <a:off x="6343650" y="2057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02 · QR</a:t>
            </a:r>
            <a:endParaRPr lang="en-US" sz="975" dirty="0"/>
          </a:p>
        </p:txBody>
      </p:sp>
      <p:sp>
        <p:nvSpPr>
          <p:cNvPr id="17" name="shot-31b-brief"/>
          <p:cNvSpPr txBox="1"/>
          <p:nvPr/>
        </p:nvSpPr>
        <p:spPr>
          <a:xfrm>
            <a:off x="6343650" y="232410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 и текстовый альтернативный путь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6343650" y="304800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1b-spec"/>
          <p:cNvSpPr txBox="1"/>
          <p:nvPr/>
        </p:nvSpPr>
        <p:spPr>
          <a:xfrm>
            <a:off x="6343650" y="31242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макро 1:1 · фронтально</a:t>
            </a:r>
            <a:endParaRPr lang="en-US" sz="900" dirty="0"/>
          </a:p>
        </p:txBody>
      </p:sp>
      <p:sp>
        <p:nvSpPr>
          <p:cNvPr id="20" name="shot-31b-purpose"/>
          <p:cNvSpPr txBox="1"/>
          <p:nvPr/>
        </p:nvSpPr>
        <p:spPr>
          <a:xfrm>
            <a:off x="6343650" y="335280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вести только в независимый реестр</a:t>
            </a:r>
            <a:endParaRPr lang="en-US" sz="900" dirty="0"/>
          </a:p>
        </p:txBody>
      </p:sp>
      <p:sp>
        <p:nvSpPr>
          <p:cNvPr id="21" name="shot-31c"/>
          <p:cNvSpPr/>
          <p:nvPr/>
        </p:nvSpPr>
        <p:spPr>
          <a:xfrm>
            <a:off x="609600" y="392430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31c-label"/>
          <p:cNvSpPr txBox="1"/>
          <p:nvPr/>
        </p:nvSpPr>
        <p:spPr>
          <a:xfrm>
            <a:off x="762000" y="40576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03 · TAMPER</a:t>
            </a:r>
            <a:endParaRPr lang="en-US" sz="975" dirty="0"/>
          </a:p>
        </p:txBody>
      </p:sp>
      <p:sp>
        <p:nvSpPr>
          <p:cNvPr id="23" name="shot-31c-brief"/>
          <p:cNvSpPr txBox="1"/>
          <p:nvPr/>
        </p:nvSpPr>
        <p:spPr>
          <a:xfrm>
            <a:off x="762000" y="432435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Признак первого вскрытия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62000" y="50482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31c-spec"/>
          <p:cNvSpPr txBox="1"/>
          <p:nvPr/>
        </p:nvSpPr>
        <p:spPr>
          <a:xfrm>
            <a:off x="762000" y="51244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макро 1:1 · до / после</a:t>
            </a:r>
            <a:endParaRPr lang="en-US" sz="900" dirty="0"/>
          </a:p>
        </p:txBody>
      </p:sp>
      <p:sp>
        <p:nvSpPr>
          <p:cNvPr id="26" name="shot-31c-purpose"/>
          <p:cNvSpPr txBox="1"/>
          <p:nvPr/>
        </p:nvSpPr>
        <p:spPr>
          <a:xfrm>
            <a:off x="762000" y="53530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сделать нарушение однозначным</a:t>
            </a:r>
            <a:endParaRPr lang="en-US" sz="900" dirty="0"/>
          </a:p>
        </p:txBody>
      </p:sp>
      <p:sp>
        <p:nvSpPr>
          <p:cNvPr id="27" name="shot-31d"/>
          <p:cNvSpPr/>
          <p:nvPr/>
        </p:nvSpPr>
        <p:spPr>
          <a:xfrm>
            <a:off x="6191250" y="392430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8" name="shot-31d-label"/>
          <p:cNvSpPr txBox="1"/>
          <p:nvPr/>
        </p:nvSpPr>
        <p:spPr>
          <a:xfrm>
            <a:off x="6343650" y="40576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04 · RECALL</a:t>
            </a:r>
            <a:endParaRPr lang="en-US" sz="975" dirty="0"/>
          </a:p>
        </p:txBody>
      </p:sp>
      <p:sp>
        <p:nvSpPr>
          <p:cNvPr id="29" name="shot-31d-brief"/>
          <p:cNvSpPr txBox="1"/>
          <p:nvPr/>
        </p:nvSpPr>
        <p:spPr>
          <a:xfrm>
            <a:off x="6343650" y="432435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Статус отзыва на упаковке и в реестре</a:t>
            </a:r>
            <a:endParaRPr lang="en-US" sz="1425" dirty="0"/>
          </a:p>
        </p:txBody>
      </p:sp>
      <p:sp>
        <p:nvSpPr>
          <p:cNvPr id="30" name="rule"/>
          <p:cNvSpPr/>
          <p:nvPr/>
        </p:nvSpPr>
        <p:spPr>
          <a:xfrm>
            <a:off x="6343650" y="50482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ot-31d-spec"/>
          <p:cNvSpPr txBox="1"/>
          <p:nvPr/>
        </p:nvSpPr>
        <p:spPr>
          <a:xfrm>
            <a:off x="6343650" y="51244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одинаковый ID · два носителя</a:t>
            </a:r>
            <a:endParaRPr lang="en-US" sz="900" dirty="0"/>
          </a:p>
        </p:txBody>
      </p:sp>
      <p:sp>
        <p:nvSpPr>
          <p:cNvPr id="32" name="shot-31d-purpose"/>
          <p:cNvSpPr txBox="1"/>
          <p:nvPr/>
        </p:nvSpPr>
        <p:spPr>
          <a:xfrm>
            <a:off x="6343650" y="53530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сквозную трассировку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PACKAGING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Комплект упаковки — без hero-кадра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 / 55</a:t>
            </a:r>
            <a:endParaRPr lang="en-US" sz="1050" dirty="0"/>
          </a:p>
        </p:txBody>
      </p:sp>
      <p:sp>
        <p:nvSpPr>
          <p:cNvPr id="9" name="shot-32a"/>
          <p:cNvSpPr/>
          <p:nvPr/>
        </p:nvSpPr>
        <p:spPr>
          <a:xfrm>
            <a:off x="609600" y="1924050"/>
            <a:ext cx="10972800" cy="31432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2a-label"/>
          <p:cNvSpPr txBox="1"/>
          <p:nvPr/>
        </p:nvSpPr>
        <p:spPr>
          <a:xfrm>
            <a:off x="819150" y="211455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KIT VIEW · TOP</a:t>
            </a:r>
            <a:endParaRPr lang="en-US" sz="1125" dirty="0"/>
          </a:p>
        </p:txBody>
      </p:sp>
      <p:sp>
        <p:nvSpPr>
          <p:cNvPr id="11" name="shot-32a-brief"/>
          <p:cNvSpPr txBox="1"/>
          <p:nvPr/>
        </p:nvSpPr>
        <p:spPr>
          <a:xfrm>
            <a:off x="819150" y="2457450"/>
            <a:ext cx="105537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Шесть условных прототипов: три семейства × два варианта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191000"/>
            <a:ext cx="105537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2a-spec"/>
          <p:cNvSpPr txBox="1"/>
          <p:nvPr/>
        </p:nvSpPr>
        <p:spPr>
          <a:xfrm>
            <a:off x="819150" y="428625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вид сверху 90° · одинаковый масштаб · без реквизита</a:t>
            </a:r>
            <a:endParaRPr lang="en-US" sz="1050" dirty="0"/>
          </a:p>
        </p:txBody>
      </p:sp>
      <p:sp>
        <p:nvSpPr>
          <p:cNvPr id="14" name="shot-32a-purpose"/>
          <p:cNvSpPr txBox="1"/>
          <p:nvPr/>
        </p:nvSpPr>
        <p:spPr>
          <a:xfrm>
            <a:off x="819150" y="4552950"/>
            <a:ext cx="10553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системность и отсутствие престижной иерархии</a:t>
            </a:r>
            <a:endParaRPr lang="en-US" sz="1125" dirty="0"/>
          </a:p>
        </p:txBody>
      </p:sp>
      <p:sp>
        <p:nvSpPr>
          <p:cNvPr id="15" name="text"/>
          <p:cNvSpPr txBox="1"/>
          <p:nvPr/>
        </p:nvSpPr>
        <p:spPr>
          <a:xfrm>
            <a:off x="609600" y="5314950"/>
            <a:ext cx="361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25" dirty="0"/>
          </a:p>
        </p:txBody>
      </p:sp>
      <p:sp>
        <p:nvSpPr>
          <p:cNvPr id="16" name="text"/>
          <p:cNvSpPr txBox="1"/>
          <p:nvPr/>
        </p:nvSpPr>
        <p:spPr>
          <a:xfrm>
            <a:off x="1047750" y="5295900"/>
            <a:ext cx="3086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одна базовая поверхность</a:t>
            </a:r>
            <a:endParaRPr lang="en-US" sz="1350" dirty="0"/>
          </a:p>
        </p:txBody>
      </p:sp>
      <p:sp>
        <p:nvSpPr>
          <p:cNvPr id="17" name="text"/>
          <p:cNvSpPr txBox="1"/>
          <p:nvPr/>
        </p:nvSpPr>
        <p:spPr>
          <a:xfrm>
            <a:off x="4324350" y="5314950"/>
            <a:ext cx="361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25" dirty="0"/>
          </a:p>
        </p:txBody>
      </p:sp>
      <p:sp>
        <p:nvSpPr>
          <p:cNvPr id="18" name="text"/>
          <p:cNvSpPr txBox="1"/>
          <p:nvPr/>
        </p:nvSpPr>
        <p:spPr>
          <a:xfrm>
            <a:off x="4762500" y="5295900"/>
            <a:ext cx="3086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одинаковое качество показа</a:t>
            </a:r>
            <a:endParaRPr lang="en-US" sz="1350" dirty="0"/>
          </a:p>
        </p:txBody>
      </p:sp>
      <p:sp>
        <p:nvSpPr>
          <p:cNvPr id="19" name="text"/>
          <p:cNvSpPr txBox="1"/>
          <p:nvPr/>
        </p:nvSpPr>
        <p:spPr>
          <a:xfrm>
            <a:off x="8039100" y="5314950"/>
            <a:ext cx="361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25" dirty="0"/>
          </a:p>
        </p:txBody>
      </p:sp>
      <p:sp>
        <p:nvSpPr>
          <p:cNvPr id="20" name="text"/>
          <p:cNvSpPr txBox="1"/>
          <p:nvPr/>
        </p:nvSpPr>
        <p:spPr>
          <a:xfrm>
            <a:off x="8477250" y="5295900"/>
            <a:ext cx="3086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различимость через текст, число и форму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45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51435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RETAIL ENVIRONMENT</a:t>
            </a:r>
            <a:endParaRPr lang="en-US" sz="1350" dirty="0"/>
          </a:p>
        </p:txBody>
      </p:sp>
      <p:sp>
        <p:nvSpPr>
          <p:cNvPr id="3" name="section-title"/>
          <p:cNvSpPr txBox="1"/>
          <p:nvPr/>
        </p:nvSpPr>
        <p:spPr>
          <a:xfrm>
            <a:off x="609600" y="1847850"/>
            <a:ext cx="952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Пространство</a:t>
            </a:r>
            <a:endParaRPr lang="en-US" sz="5400" dirty="0"/>
          </a:p>
        </p:txBody>
      </p:sp>
      <p:sp>
        <p:nvSpPr>
          <p:cNvPr id="4" name="section-subtitle"/>
          <p:cNvSpPr txBox="1"/>
          <p:nvPr/>
        </p:nvSpPr>
        <p:spPr>
          <a:xfrm>
            <a:off x="609600" y="3162300"/>
            <a:ext cx="8858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Каждый вид проверяет функцию маршрута, приватность и отсутствие товарной режиссуры.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6B87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 / 55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SPACE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Фасад сообщает функцию, но не приглашает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34 / 55</a:t>
            </a:r>
            <a:endParaRPr lang="en-US" sz="1050" dirty="0"/>
          </a:p>
        </p:txBody>
      </p:sp>
      <p:sp>
        <p:nvSpPr>
          <p:cNvPr id="9" name="shot-34a"/>
          <p:cNvSpPr/>
          <p:nvPr/>
        </p:nvSpPr>
        <p:spPr>
          <a:xfrm>
            <a:off x="609600" y="1924050"/>
            <a:ext cx="6953250" cy="38100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4a-label"/>
          <p:cNvSpPr txBox="1"/>
          <p:nvPr/>
        </p:nvSpPr>
        <p:spPr>
          <a:xfrm>
            <a:off x="819150" y="211455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01 · FACADE</a:t>
            </a:r>
            <a:endParaRPr lang="en-US" sz="1125" dirty="0"/>
          </a:p>
        </p:txBody>
      </p:sp>
      <p:sp>
        <p:nvSpPr>
          <p:cNvPr id="11" name="shot-34a-brief"/>
          <p:cNvSpPr txBox="1"/>
          <p:nvPr/>
        </p:nvSpPr>
        <p:spPr>
          <a:xfrm>
            <a:off x="819150" y="2457450"/>
            <a:ext cx="65341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Фасадный фрагмент в натуральном масштабе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857750"/>
            <a:ext cx="65341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4a-spec"/>
          <p:cNvSpPr txBox="1"/>
          <p:nvPr/>
        </p:nvSpPr>
        <p:spPr>
          <a:xfrm>
            <a:off x="819150" y="495300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прямо с улицы · 24–35 мм · камера 1,55 м · день</a:t>
            </a:r>
            <a:endParaRPr lang="en-US" sz="1050" dirty="0"/>
          </a:p>
        </p:txBody>
      </p:sp>
      <p:sp>
        <p:nvSpPr>
          <p:cNvPr id="14" name="shot-34a-purpose"/>
          <p:cNvSpPr txBox="1"/>
          <p:nvPr/>
        </p:nvSpPr>
        <p:spPr>
          <a:xfrm>
            <a:off x="819150" y="5219700"/>
            <a:ext cx="6534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прочитать функцию, часы, доступность и помощь</a:t>
            </a:r>
            <a:endParaRPr lang="en-US" sz="1125" dirty="0"/>
          </a:p>
        </p:txBody>
      </p:sp>
      <p:sp>
        <p:nvSpPr>
          <p:cNvPr id="15" name="shot-34b"/>
          <p:cNvSpPr/>
          <p:nvPr/>
        </p:nvSpPr>
        <p:spPr>
          <a:xfrm>
            <a:off x="7753350" y="192405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4b-label"/>
          <p:cNvSpPr txBox="1"/>
          <p:nvPr/>
        </p:nvSpPr>
        <p:spPr>
          <a:xfrm>
            <a:off x="7905750" y="20574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01 · SIGN</a:t>
            </a:r>
            <a:endParaRPr lang="en-US" sz="975" dirty="0"/>
          </a:p>
        </p:txBody>
      </p:sp>
      <p:sp>
        <p:nvSpPr>
          <p:cNvPr id="17" name="shot-34b-brief"/>
          <p:cNvSpPr txBox="1"/>
          <p:nvPr/>
        </p:nvSpPr>
        <p:spPr>
          <a:xfrm>
            <a:off x="7905750" y="232410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Стандартизированное обозначение функции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7905750" y="304800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4b-spec"/>
          <p:cNvSpPr txBox="1"/>
          <p:nvPr/>
        </p:nvSpPr>
        <p:spPr>
          <a:xfrm>
            <a:off x="7905750" y="31242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фронтально · 1:1</a:t>
            </a:r>
            <a:endParaRPr lang="en-US" sz="900" dirty="0"/>
          </a:p>
        </p:txBody>
      </p:sp>
      <p:sp>
        <p:nvSpPr>
          <p:cNvPr id="20" name="shot-34b-purpose"/>
          <p:cNvSpPr txBox="1"/>
          <p:nvPr/>
        </p:nvSpPr>
        <p:spPr>
          <a:xfrm>
            <a:off x="7905750" y="33528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читаемость без рекламного жеста</a:t>
            </a:r>
            <a:endParaRPr lang="en-US" sz="900" dirty="0"/>
          </a:p>
        </p:txBody>
      </p:sp>
      <p:sp>
        <p:nvSpPr>
          <p:cNvPr id="21" name="shot-34c"/>
          <p:cNvSpPr/>
          <p:nvPr/>
        </p:nvSpPr>
        <p:spPr>
          <a:xfrm>
            <a:off x="7753350" y="392430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34c-label"/>
          <p:cNvSpPr txBox="1"/>
          <p:nvPr/>
        </p:nvSpPr>
        <p:spPr>
          <a:xfrm>
            <a:off x="7905750" y="40576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CONTROL VIEW · EVENING</a:t>
            </a:r>
            <a:endParaRPr lang="en-US" sz="975" dirty="0"/>
          </a:p>
        </p:txBody>
      </p:sp>
      <p:sp>
        <p:nvSpPr>
          <p:cNvPr id="23" name="shot-34c-brief"/>
          <p:cNvSpPr txBox="1"/>
          <p:nvPr/>
        </p:nvSpPr>
        <p:spPr>
          <a:xfrm>
            <a:off x="7905750" y="432435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Тот же фасад после наступления темноты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905750" y="504825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34c-spec"/>
          <p:cNvSpPr txBox="1"/>
          <p:nvPr/>
        </p:nvSpPr>
        <p:spPr>
          <a:xfrm>
            <a:off x="7905750" y="51244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та же точка камеры</a:t>
            </a:r>
            <a:endParaRPr lang="en-US" sz="900" dirty="0"/>
          </a:p>
        </p:txBody>
      </p:sp>
      <p:sp>
        <p:nvSpPr>
          <p:cNvPr id="26" name="shot-34c-purpose"/>
          <p:cNvSpPr txBox="1"/>
          <p:nvPr/>
        </p:nvSpPr>
        <p:spPr>
          <a:xfrm>
            <a:off x="7905750" y="535305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исключить световое шоу и тайный клуб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SPACE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Правила доступны до проверки права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35 / 55</a:t>
            </a:r>
            <a:endParaRPr lang="en-US" sz="1050" dirty="0"/>
          </a:p>
        </p:txBody>
      </p:sp>
      <p:sp>
        <p:nvSpPr>
          <p:cNvPr id="9" name="shot-35a"/>
          <p:cNvSpPr/>
          <p:nvPr/>
        </p:nvSpPr>
        <p:spPr>
          <a:xfrm>
            <a:off x="609600" y="1924050"/>
            <a:ext cx="6953250" cy="38100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5a-label"/>
          <p:cNvSpPr txBox="1"/>
          <p:nvPr/>
        </p:nvSpPr>
        <p:spPr>
          <a:xfrm>
            <a:off x="819150" y="211455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02 · THRESHOLD</a:t>
            </a:r>
            <a:endParaRPr lang="en-US" sz="1125" dirty="0"/>
          </a:p>
        </p:txBody>
      </p:sp>
      <p:sp>
        <p:nvSpPr>
          <p:cNvPr id="11" name="shot-35a-brief"/>
          <p:cNvSpPr txBox="1"/>
          <p:nvPr/>
        </p:nvSpPr>
        <p:spPr>
          <a:xfrm>
            <a:off x="819150" y="2457450"/>
            <a:ext cx="65341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Порог и информационная зона без ID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857750"/>
            <a:ext cx="65341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5a-spec"/>
          <p:cNvSpPr txBox="1"/>
          <p:nvPr/>
        </p:nvSpPr>
        <p:spPr>
          <a:xfrm>
            <a:off x="819150" y="4953000"/>
            <a:ext cx="653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из линии входа · камера 1,55 м · 28 мм</a:t>
            </a:r>
            <a:endParaRPr lang="en-US" sz="1050" dirty="0"/>
          </a:p>
        </p:txBody>
      </p:sp>
      <p:sp>
        <p:nvSpPr>
          <p:cNvPr id="14" name="shot-35a-purpose"/>
          <p:cNvSpPr txBox="1"/>
          <p:nvPr/>
        </p:nvSpPr>
        <p:spPr>
          <a:xfrm>
            <a:off x="819150" y="5219700"/>
            <a:ext cx="6534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показать назначение точки и право уйти</a:t>
            </a:r>
            <a:endParaRPr lang="en-US" sz="1125" dirty="0"/>
          </a:p>
        </p:txBody>
      </p:sp>
      <p:sp>
        <p:nvSpPr>
          <p:cNvPr id="15" name="shot-35b"/>
          <p:cNvSpPr/>
          <p:nvPr/>
        </p:nvSpPr>
        <p:spPr>
          <a:xfrm>
            <a:off x="7753350" y="192405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5b-label"/>
          <p:cNvSpPr txBox="1"/>
          <p:nvPr/>
        </p:nvSpPr>
        <p:spPr>
          <a:xfrm>
            <a:off x="7905750" y="20574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01 · RULE PANEL</a:t>
            </a:r>
            <a:endParaRPr lang="en-US" sz="975" dirty="0"/>
          </a:p>
        </p:txBody>
      </p:sp>
      <p:sp>
        <p:nvSpPr>
          <p:cNvPr id="17" name="shot-35b-brief"/>
          <p:cNvSpPr txBox="1"/>
          <p:nvPr/>
        </p:nvSpPr>
        <p:spPr>
          <a:xfrm>
            <a:off x="7905750" y="232410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Входная панель правил целиком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7905750" y="304800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5b-spec"/>
          <p:cNvSpPr txBox="1"/>
          <p:nvPr/>
        </p:nvSpPr>
        <p:spPr>
          <a:xfrm>
            <a:off x="7905750" y="312420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фронтально · без перспективы</a:t>
            </a:r>
            <a:endParaRPr lang="en-US" sz="900" dirty="0"/>
          </a:p>
        </p:txBody>
      </p:sp>
      <p:sp>
        <p:nvSpPr>
          <p:cNvPr id="20" name="shot-35b-purpose"/>
          <p:cNvSpPr txBox="1"/>
          <p:nvPr/>
        </p:nvSpPr>
        <p:spPr>
          <a:xfrm>
            <a:off x="7905750" y="33528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язык, порядок и доступность</a:t>
            </a:r>
            <a:endParaRPr lang="en-US" sz="900" dirty="0"/>
          </a:p>
        </p:txBody>
      </p:sp>
      <p:sp>
        <p:nvSpPr>
          <p:cNvPr id="21" name="shot-35c"/>
          <p:cNvSpPr/>
          <p:nvPr/>
        </p:nvSpPr>
        <p:spPr>
          <a:xfrm>
            <a:off x="7753350" y="3924300"/>
            <a:ext cx="38290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35c-label"/>
          <p:cNvSpPr txBox="1"/>
          <p:nvPr/>
        </p:nvSpPr>
        <p:spPr>
          <a:xfrm>
            <a:off x="7905750" y="40576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 02 · ACCESS</a:t>
            </a:r>
            <a:endParaRPr lang="en-US" sz="975" dirty="0"/>
          </a:p>
        </p:txBody>
      </p:sp>
      <p:sp>
        <p:nvSpPr>
          <p:cNvPr id="23" name="shot-35c-brief"/>
          <p:cNvSpPr txBox="1"/>
          <p:nvPr/>
        </p:nvSpPr>
        <p:spPr>
          <a:xfrm>
            <a:off x="7905750" y="4324350"/>
            <a:ext cx="3524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Языки, доступность и путь к помощи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905750" y="5048250"/>
            <a:ext cx="35242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35c-spec"/>
          <p:cNvSpPr txBox="1"/>
          <p:nvPr/>
        </p:nvSpPr>
        <p:spPr>
          <a:xfrm>
            <a:off x="7905750" y="5124450"/>
            <a:ext cx="352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крупный план · уровень глаз</a:t>
            </a:r>
            <a:endParaRPr lang="en-US" sz="900" dirty="0"/>
          </a:p>
        </p:txBody>
      </p:sp>
      <p:sp>
        <p:nvSpPr>
          <p:cNvPr id="26" name="shot-35c-purpose"/>
          <p:cNvSpPr txBox="1"/>
          <p:nvPr/>
        </p:nvSpPr>
        <p:spPr>
          <a:xfrm>
            <a:off x="7905750" y="535305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найти помощь до транзакции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SPACE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Карта классов идёт раньше ассортимента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36 / 55</a:t>
            </a:r>
            <a:endParaRPr lang="en-US" sz="1050" dirty="0"/>
          </a:p>
        </p:txBody>
      </p:sp>
      <p:sp>
        <p:nvSpPr>
          <p:cNvPr id="9" name="shot-36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6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03 · CLASS MAP</a:t>
            </a:r>
            <a:endParaRPr lang="en-US" sz="1125" dirty="0"/>
          </a:p>
        </p:txBody>
      </p:sp>
      <p:sp>
        <p:nvSpPr>
          <p:cNvPr id="11" name="shot-36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Карта классов и общий принцип риска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6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фронтально · полный модуль в кадре</a:t>
            </a:r>
            <a:endParaRPr lang="en-US" sz="1050" dirty="0"/>
          </a:p>
        </p:txBody>
      </p:sp>
      <p:sp>
        <p:nvSpPr>
          <p:cNvPr id="14" name="shot-36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понять классификацию до списка типов</a:t>
            </a:r>
            <a:endParaRPr lang="en-US" sz="1125" dirty="0"/>
          </a:p>
        </p:txBody>
      </p:sp>
      <p:sp>
        <p:nvSpPr>
          <p:cNvPr id="15" name="shot-36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6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04 · SELF INFO</a:t>
            </a:r>
            <a:endParaRPr lang="en-US" sz="1125" dirty="0"/>
          </a:p>
        </p:txBody>
      </p:sp>
      <p:sp>
        <p:nvSpPr>
          <p:cNvPr id="17" name="shot-36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Стойка самостоятельной информации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6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3/4 · камера 1,45 м · без продукта</a:t>
            </a:r>
            <a:endParaRPr lang="en-US" sz="1050" dirty="0"/>
          </a:p>
        </p:txBody>
      </p:sp>
      <p:sp>
        <p:nvSpPr>
          <p:cNvPr id="20" name="shot-36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получить информацию без обращения и покупки</a:t>
            </a:r>
            <a:endParaRPr lang="en-US" sz="11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SPACE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Очередь без стимулов, консультация без VIP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37 / 55</a:t>
            </a:r>
            <a:endParaRPr lang="en-US" sz="1050" dirty="0"/>
          </a:p>
        </p:txBody>
      </p:sp>
      <p:sp>
        <p:nvSpPr>
          <p:cNvPr id="9" name="shot-37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7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05 · QUEUE</a:t>
            </a:r>
            <a:endParaRPr lang="en-US" sz="1125" dirty="0"/>
          </a:p>
        </p:txBody>
      </p:sp>
      <p:sp>
        <p:nvSpPr>
          <p:cNvPr id="11" name="shot-37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Очередь без продукта и кассовых стимулов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7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широкий вид 24 мм · камера 1,55 м</a:t>
            </a:r>
            <a:endParaRPr lang="en-US" sz="1050" dirty="0"/>
          </a:p>
        </p:txBody>
      </p:sp>
      <p:sp>
        <p:nvSpPr>
          <p:cNvPr id="14" name="shot-37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маршрут, ожидание и отсутствие срочности</a:t>
            </a:r>
            <a:endParaRPr lang="en-US" sz="1125" dirty="0"/>
          </a:p>
        </p:txBody>
      </p:sp>
      <p:sp>
        <p:nvSpPr>
          <p:cNvPr id="15" name="shot-37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7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06 · CONSULTATION</a:t>
            </a:r>
            <a:endParaRPr lang="en-US" sz="1125" dirty="0"/>
          </a:p>
        </p:txBody>
      </p:sp>
      <p:sp>
        <p:nvSpPr>
          <p:cNvPr id="17" name="shot-37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Приватная точка в поле безопасной видимости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7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3/4 со стороны общего маршрута</a:t>
            </a:r>
            <a:endParaRPr lang="en-US" sz="1050" dirty="0"/>
          </a:p>
        </p:txBody>
      </p:sp>
      <p:sp>
        <p:nvSpPr>
          <p:cNvPr id="20" name="shot-37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показать приватность без статуса и изоляции</a:t>
            </a:r>
            <a:endParaRPr lang="en-US" sz="11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SPACE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Выдача — процедура, хранение — система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38 / 55</a:t>
            </a:r>
            <a:endParaRPr lang="en-US" sz="1050" dirty="0"/>
          </a:p>
        </p:txBody>
      </p:sp>
      <p:sp>
        <p:nvSpPr>
          <p:cNvPr id="9" name="shot-38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8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07 · ISSUANCE</a:t>
            </a:r>
            <a:endParaRPr lang="en-US" sz="1125" dirty="0"/>
          </a:p>
        </p:txBody>
      </p:sp>
      <p:sp>
        <p:nvSpPr>
          <p:cNvPr id="11" name="shot-38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Рабочее место проверки и выдачи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8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фронт человека · экран вне чужого обзора</a:t>
            </a:r>
            <a:endParaRPr lang="en-US" sz="1050" dirty="0"/>
          </a:p>
        </p:txBody>
      </p:sp>
      <p:sp>
        <p:nvSpPr>
          <p:cNvPr id="14" name="shot-38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подтверждение имени, единицы и количества</a:t>
            </a:r>
            <a:endParaRPr lang="en-US" sz="1125" dirty="0"/>
          </a:p>
        </p:txBody>
      </p:sp>
      <p:sp>
        <p:nvSpPr>
          <p:cNvPr id="15" name="shot-38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8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08 · STORAGE</a:t>
            </a:r>
            <a:endParaRPr lang="en-US" sz="1125" dirty="0"/>
          </a:p>
        </p:txBody>
      </p:sp>
      <p:sp>
        <p:nvSpPr>
          <p:cNvPr id="17" name="shot-38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Закрытое хранение и техническая сортировка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8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со стороны сотрудника · 35 мм</a:t>
            </a:r>
            <a:endParaRPr lang="en-US" sz="1050" dirty="0"/>
          </a:p>
        </p:txBody>
      </p:sp>
      <p:sp>
        <p:nvSpPr>
          <p:cNvPr id="20" name="shot-38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исключить витрину, facing и ранжирование по марже</a:t>
            </a:r>
            <a:endParaRPr lang="en-US" sz="11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SPACE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Выход возвращает человеку контроль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39 / 55</a:t>
            </a:r>
            <a:endParaRPr lang="en-US" sz="1050" dirty="0"/>
          </a:p>
        </p:txBody>
      </p:sp>
      <p:sp>
        <p:nvSpPr>
          <p:cNvPr id="9" name="shot-39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39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SPACE 09 · EXIT</a:t>
            </a:r>
            <a:endParaRPr lang="en-US" sz="1125" dirty="0"/>
          </a:p>
        </p:txBody>
      </p:sp>
      <p:sp>
        <p:nvSpPr>
          <p:cNvPr id="11" name="shot-39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Панель помощи, отзыва и жалобы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39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фронтально · вид с маршрута выхода</a:t>
            </a:r>
            <a:endParaRPr lang="en-US" sz="1050" dirty="0"/>
          </a:p>
        </p:txBody>
      </p:sp>
      <p:sp>
        <p:nvSpPr>
          <p:cNvPr id="14" name="shot-39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найти следующий шаг без приглашения вернуться</a:t>
            </a:r>
            <a:endParaRPr lang="en-US" sz="1125" dirty="0"/>
          </a:p>
        </p:txBody>
      </p:sp>
      <p:sp>
        <p:nvSpPr>
          <p:cNvPr id="15" name="shot-39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39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 DETAIL · HANDOFF</a:t>
            </a:r>
            <a:endParaRPr lang="en-US" sz="1125" dirty="0"/>
          </a:p>
        </p:txBody>
      </p:sp>
      <p:sp>
        <p:nvSpPr>
          <p:cNvPr id="17" name="shot-39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Нейтральная передача упаковки и чека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39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уровень рабочей поверхности · без product hero</a:t>
            </a:r>
            <a:endParaRPr lang="en-US" sz="1050" dirty="0"/>
          </a:p>
        </p:txBody>
      </p:sp>
      <p:sp>
        <p:nvSpPr>
          <p:cNvPr id="20" name="shot-39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показать завершение без ритуала и поздравления</a:t>
            </a:r>
            <a:endParaRPr lang="en-US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SPACE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 план связывает девять зон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40 / 55</a:t>
            </a:r>
            <a:endParaRPr lang="en-US" sz="1050" dirty="0"/>
          </a:p>
        </p:txBody>
      </p:sp>
      <p:sp>
        <p:nvSpPr>
          <p:cNvPr id="9" name="shot-40a"/>
          <p:cNvSpPr/>
          <p:nvPr/>
        </p:nvSpPr>
        <p:spPr>
          <a:xfrm>
            <a:off x="609600" y="1924050"/>
            <a:ext cx="10972800" cy="38100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0a-label"/>
          <p:cNvSpPr txBox="1"/>
          <p:nvPr/>
        </p:nvSpPr>
        <p:spPr>
          <a:xfrm>
            <a:off x="819150" y="211455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 01 · ROUTE</a:t>
            </a:r>
            <a:endParaRPr lang="en-US" sz="1125" dirty="0"/>
          </a:p>
        </p:txBody>
      </p:sp>
      <p:sp>
        <p:nvSpPr>
          <p:cNvPr id="11" name="shot-40a-brief"/>
          <p:cNvSpPr txBox="1"/>
          <p:nvPr/>
        </p:nvSpPr>
        <p:spPr>
          <a:xfrm>
            <a:off x="819150" y="2457450"/>
            <a:ext cx="105537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План точки с зонами 1–9, маршрутом, линиями обзора и акустическими границами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857750"/>
            <a:ext cx="105537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0a-spec"/>
          <p:cNvSpPr txBox="1"/>
          <p:nvPr/>
        </p:nvSpPr>
        <p:spPr>
          <a:xfrm>
            <a:off x="819150" y="495300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вид сверху · условный масштаб 1:100 · север и вход отмечены</a:t>
            </a:r>
            <a:endParaRPr lang="en-US" sz="1050" dirty="0"/>
          </a:p>
        </p:txBody>
      </p:sp>
      <p:sp>
        <p:nvSpPr>
          <p:cNvPr id="14" name="shot-40a-purpose"/>
          <p:cNvSpPr txBox="1"/>
          <p:nvPr/>
        </p:nvSpPr>
        <p:spPr>
          <a:xfrm>
            <a:off x="819150" y="5219700"/>
            <a:ext cx="10553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последовательность без соблазняющего маршрута</a:t>
            </a:r>
            <a:endParaRPr lang="en-US" sz="11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45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51435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PRINTED MEDIA</a:t>
            </a:r>
            <a:endParaRPr lang="en-US" sz="1350" dirty="0"/>
          </a:p>
        </p:txBody>
      </p:sp>
      <p:sp>
        <p:nvSpPr>
          <p:cNvPr id="3" name="section-title"/>
          <p:cNvSpPr txBox="1"/>
          <p:nvPr/>
        </p:nvSpPr>
        <p:spPr>
          <a:xfrm>
            <a:off x="609600" y="1847850"/>
            <a:ext cx="952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Печатные носители</a:t>
            </a:r>
            <a:endParaRPr lang="en-US" sz="5400" dirty="0"/>
          </a:p>
        </p:txBody>
      </p:sp>
      <p:sp>
        <p:nvSpPr>
          <p:cNvPr id="4" name="section-subtitle"/>
          <p:cNvSpPr txBox="1"/>
          <p:nvPr/>
        </p:nvSpPr>
        <p:spPr>
          <a:xfrm>
            <a:off x="609600" y="3162300"/>
            <a:ext cx="8858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Каждый предмет продолжает одну информационную грамматику и остаётся полезным вне покупки.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6B87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41 / 55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PRINT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продукта и сравнение равноправны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 / 55</a:t>
            </a:r>
            <a:endParaRPr lang="en-US" sz="1050" dirty="0"/>
          </a:p>
        </p:txBody>
      </p:sp>
      <p:sp>
        <p:nvSpPr>
          <p:cNvPr id="9" name="shot-42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2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 01 · PRODUCT CARD</a:t>
            </a:r>
            <a:endParaRPr lang="en-US" sz="1125" dirty="0"/>
          </a:p>
        </p:txBody>
      </p:sp>
      <p:sp>
        <p:nvSpPr>
          <p:cNvPr id="11" name="shot-42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продукта: лицо и оборот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2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вид сверху 90° · обе стороны · без реквизита</a:t>
            </a:r>
            <a:endParaRPr lang="en-US" sz="1050" dirty="0"/>
          </a:p>
        </p:txBody>
      </p:sp>
      <p:sp>
        <p:nvSpPr>
          <p:cNvPr id="14" name="shot-42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повторить класс, содержание, риск, режим и помощь</a:t>
            </a:r>
            <a:endParaRPr lang="en-US" sz="1125" dirty="0"/>
          </a:p>
        </p:txBody>
      </p:sp>
      <p:sp>
        <p:nvSpPr>
          <p:cNvPr id="15" name="shot-42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42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 02 · COMPARISON</a:t>
            </a:r>
            <a:endParaRPr lang="en-US" sz="1125" dirty="0"/>
          </a:p>
        </p:txBody>
      </p:sp>
      <p:sp>
        <p:nvSpPr>
          <p:cNvPr id="17" name="shot-42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сравнения двух форм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42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вид сверху 90° · симметрия 6/6</a:t>
            </a:r>
            <a:endParaRPr lang="en-US" sz="1050" dirty="0"/>
          </a:p>
        </p:txBody>
      </p:sp>
      <p:sp>
        <p:nvSpPr>
          <p:cNvPr id="20" name="shot-42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дать равное представление без победителя</a:t>
            </a:r>
            <a:endParaRPr lang="en-US" sz="11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PRINT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Чек, отказ, помощь и отзыв — одна процедура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43 / 55</a:t>
            </a:r>
            <a:endParaRPr lang="en-US" sz="1050" dirty="0"/>
          </a:p>
        </p:txBody>
      </p:sp>
      <p:sp>
        <p:nvSpPr>
          <p:cNvPr id="9" name="shot-43a"/>
          <p:cNvSpPr/>
          <p:nvPr/>
        </p:nvSpPr>
        <p:spPr>
          <a:xfrm>
            <a:off x="609600" y="192405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3a-label"/>
          <p:cNvSpPr txBox="1"/>
          <p:nvPr/>
        </p:nvSpPr>
        <p:spPr>
          <a:xfrm>
            <a:off x="762000" y="2057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 03 · RECEIPT</a:t>
            </a:r>
            <a:endParaRPr lang="en-US" sz="975" dirty="0"/>
          </a:p>
        </p:txBody>
      </p:sp>
      <p:sp>
        <p:nvSpPr>
          <p:cNvPr id="11" name="shot-43a-brief"/>
          <p:cNvSpPr txBox="1"/>
          <p:nvPr/>
        </p:nvSpPr>
        <p:spPr>
          <a:xfrm>
            <a:off x="762000" y="232410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Чек с продуктовой записью и партией</a:t>
            </a:r>
            <a:endParaRPr lang="en-US" sz="1425" dirty="0"/>
          </a:p>
        </p:txBody>
      </p:sp>
      <p:sp>
        <p:nvSpPr>
          <p:cNvPr id="12" name="rule"/>
          <p:cNvSpPr/>
          <p:nvPr/>
        </p:nvSpPr>
        <p:spPr>
          <a:xfrm>
            <a:off x="762000" y="304800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3a-spec"/>
          <p:cNvSpPr txBox="1"/>
          <p:nvPr/>
        </p:nvSpPr>
        <p:spPr>
          <a:xfrm>
            <a:off x="762000" y="31242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вид сверху · полный формат</a:t>
            </a:r>
            <a:endParaRPr lang="en-US" sz="900" dirty="0"/>
          </a:p>
        </p:txBody>
      </p:sp>
      <p:sp>
        <p:nvSpPr>
          <p:cNvPr id="14" name="shot-43a-purpose"/>
          <p:cNvSpPr txBox="1"/>
          <p:nvPr/>
        </p:nvSpPr>
        <p:spPr>
          <a:xfrm>
            <a:off x="762000" y="335280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зафиксировать операцию без купона</a:t>
            </a:r>
            <a:endParaRPr lang="en-US" sz="900" dirty="0"/>
          </a:p>
        </p:txBody>
      </p:sp>
      <p:sp>
        <p:nvSpPr>
          <p:cNvPr id="15" name="shot-43b"/>
          <p:cNvSpPr/>
          <p:nvPr/>
        </p:nvSpPr>
        <p:spPr>
          <a:xfrm>
            <a:off x="6191250" y="192405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43b-label"/>
          <p:cNvSpPr txBox="1"/>
          <p:nvPr/>
        </p:nvSpPr>
        <p:spPr>
          <a:xfrm>
            <a:off x="6343650" y="2057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 04 · REFUSAL</a:t>
            </a:r>
            <a:endParaRPr lang="en-US" sz="975" dirty="0"/>
          </a:p>
        </p:txBody>
      </p:sp>
      <p:sp>
        <p:nvSpPr>
          <p:cNvPr id="17" name="shot-43b-brief"/>
          <p:cNvSpPr txBox="1"/>
          <p:nvPr/>
        </p:nvSpPr>
        <p:spPr>
          <a:xfrm>
            <a:off x="6343650" y="232410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Причина, правило и следующий шаг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6343650" y="304800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43b-spec"/>
          <p:cNvSpPr txBox="1"/>
          <p:nvPr/>
        </p:nvSpPr>
        <p:spPr>
          <a:xfrm>
            <a:off x="6343650" y="31242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лицо / оборот · одинаковый масштаб</a:t>
            </a:r>
            <a:endParaRPr lang="en-US" sz="900" dirty="0"/>
          </a:p>
        </p:txBody>
      </p:sp>
      <p:sp>
        <p:nvSpPr>
          <p:cNvPr id="20" name="shot-43b-purpose"/>
          <p:cNvSpPr txBox="1"/>
          <p:nvPr/>
        </p:nvSpPr>
        <p:spPr>
          <a:xfrm>
            <a:off x="6343650" y="335280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сделать отказ понятным и обжалуемым</a:t>
            </a:r>
            <a:endParaRPr lang="en-US" sz="900" dirty="0"/>
          </a:p>
        </p:txBody>
      </p:sp>
      <p:sp>
        <p:nvSpPr>
          <p:cNvPr id="21" name="shot-43c"/>
          <p:cNvSpPr/>
          <p:nvPr/>
        </p:nvSpPr>
        <p:spPr>
          <a:xfrm>
            <a:off x="609600" y="392430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43c-label"/>
          <p:cNvSpPr txBox="1"/>
          <p:nvPr/>
        </p:nvSpPr>
        <p:spPr>
          <a:xfrm>
            <a:off x="762000" y="40576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 05 · HELP</a:t>
            </a:r>
            <a:endParaRPr lang="en-US" sz="975" dirty="0"/>
          </a:p>
        </p:txBody>
      </p:sp>
      <p:sp>
        <p:nvSpPr>
          <p:cNvPr id="23" name="shot-43c-brief"/>
          <p:cNvSpPr txBox="1"/>
          <p:nvPr/>
        </p:nvSpPr>
        <p:spPr>
          <a:xfrm>
            <a:off x="762000" y="432435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Независимая помощь без связи с покупкой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62000" y="50482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43c-spec"/>
          <p:cNvSpPr txBox="1"/>
          <p:nvPr/>
        </p:nvSpPr>
        <p:spPr>
          <a:xfrm>
            <a:off x="762000" y="51244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лицо / оборот · высокий контраст</a:t>
            </a:r>
            <a:endParaRPr lang="en-US" sz="900" dirty="0"/>
          </a:p>
        </p:txBody>
      </p:sp>
      <p:sp>
        <p:nvSpPr>
          <p:cNvPr id="26" name="shot-43c-purpose"/>
          <p:cNvSpPr txBox="1"/>
          <p:nvPr/>
        </p:nvSpPr>
        <p:spPr>
          <a:xfrm>
            <a:off x="762000" y="53530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оставить путь до, вместо и после покупки</a:t>
            </a:r>
            <a:endParaRPr lang="en-US" sz="900" dirty="0"/>
          </a:p>
        </p:txBody>
      </p:sp>
      <p:sp>
        <p:nvSpPr>
          <p:cNvPr id="27" name="shot-43d"/>
          <p:cNvSpPr/>
          <p:nvPr/>
        </p:nvSpPr>
        <p:spPr>
          <a:xfrm>
            <a:off x="6191250" y="392430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8" name="shot-43d-label"/>
          <p:cNvSpPr txBox="1"/>
          <p:nvPr/>
        </p:nvSpPr>
        <p:spPr>
          <a:xfrm>
            <a:off x="6343650" y="40576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 06 · RECALL</a:t>
            </a:r>
            <a:endParaRPr lang="en-US" sz="975" dirty="0"/>
          </a:p>
        </p:txBody>
      </p:sp>
      <p:sp>
        <p:nvSpPr>
          <p:cNvPr id="29" name="shot-43d-brief"/>
          <p:cNvSpPr txBox="1"/>
          <p:nvPr/>
        </p:nvSpPr>
        <p:spPr>
          <a:xfrm>
            <a:off x="6343650" y="432435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Уведомление об отзыве партии</a:t>
            </a:r>
            <a:endParaRPr lang="en-US" sz="1425" dirty="0"/>
          </a:p>
        </p:txBody>
      </p:sp>
      <p:sp>
        <p:nvSpPr>
          <p:cNvPr id="30" name="rule"/>
          <p:cNvSpPr/>
          <p:nvPr/>
        </p:nvSpPr>
        <p:spPr>
          <a:xfrm>
            <a:off x="6343650" y="50482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ot-43d-spec"/>
          <p:cNvSpPr txBox="1"/>
          <p:nvPr/>
        </p:nvSpPr>
        <p:spPr>
          <a:xfrm>
            <a:off x="6343650" y="51244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A4/A3 · фронтально</a:t>
            </a:r>
            <a:endParaRPr lang="en-US" sz="900" dirty="0"/>
          </a:p>
        </p:txBody>
      </p:sp>
      <p:sp>
        <p:nvSpPr>
          <p:cNvPr id="32" name="shot-43d-purpose"/>
          <p:cNvSpPr txBox="1"/>
          <p:nvPr/>
        </p:nvSpPr>
        <p:spPr>
          <a:xfrm>
            <a:off x="6343650" y="53530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соединить ID, действие и контакт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PRINT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Badge описывает роль, одежда не создаёт статус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44 / 55</a:t>
            </a:r>
            <a:endParaRPr lang="en-US" sz="1050" dirty="0"/>
          </a:p>
        </p:txBody>
      </p:sp>
      <p:sp>
        <p:nvSpPr>
          <p:cNvPr id="9" name="shot-44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4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 07 · BADGE</a:t>
            </a:r>
            <a:endParaRPr lang="en-US" sz="1125" dirty="0"/>
          </a:p>
        </p:txBody>
      </p:sp>
      <p:sp>
        <p:nvSpPr>
          <p:cNvPr id="11" name="shot-44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Имя / ID и точное название роли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4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лицо / оборот · 1:1</a:t>
            </a:r>
            <a:endParaRPr lang="en-US" sz="1050" dirty="0"/>
          </a:p>
        </p:txBody>
      </p:sp>
      <p:sp>
        <p:nvSpPr>
          <p:cNvPr id="14" name="shot-44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различить человека и полномочия текстом</a:t>
            </a:r>
            <a:endParaRPr lang="en-US" sz="1125" dirty="0"/>
          </a:p>
        </p:txBody>
      </p:sp>
      <p:sp>
        <p:nvSpPr>
          <p:cNvPr id="15" name="shot-44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44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APPAREL 01 · FRONT</a:t>
            </a:r>
            <a:endParaRPr lang="en-US" sz="1125" dirty="0"/>
          </a:p>
        </p:txBody>
      </p:sp>
      <p:sp>
        <p:nvSpPr>
          <p:cNvPr id="17" name="shot-44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Нейтральная рабочая одежда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44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фронтальный кроп по пояс · нейтральная поза</a:t>
            </a:r>
            <a:endParaRPr lang="en-US" sz="1050" dirty="0"/>
          </a:p>
        </p:txBody>
      </p:sp>
      <p:sp>
        <p:nvSpPr>
          <p:cNvPr id="20" name="shot-44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исключить fashion, полицию, халат и субкультурный код</a:t>
            </a:r>
            <a:endParaRPr lang="en-US" sz="11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45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51435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DIGITAL</a:t>
            </a:r>
            <a:endParaRPr lang="en-US" sz="1350" dirty="0"/>
          </a:p>
        </p:txBody>
      </p:sp>
      <p:sp>
        <p:nvSpPr>
          <p:cNvPr id="3" name="section-title"/>
          <p:cNvSpPr txBox="1"/>
          <p:nvPr/>
        </p:nvSpPr>
        <p:spPr>
          <a:xfrm>
            <a:off x="609600" y="1847850"/>
            <a:ext cx="952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Digital-сценарий</a:t>
            </a:r>
            <a:endParaRPr lang="en-US" sz="5400" dirty="0"/>
          </a:p>
        </p:txBody>
      </p:sp>
      <p:sp>
        <p:nvSpPr>
          <p:cNvPr id="4" name="section-subtitle"/>
          <p:cNvSpPr txBox="1"/>
          <p:nvPr/>
        </p:nvSpPr>
        <p:spPr>
          <a:xfrm>
            <a:off x="609600" y="3162300"/>
            <a:ext cx="8858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Восемь экранов помогают найти факт и завершить задачу, но не формируют желание.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6B87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45 / 55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DIGITAL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Система, класс и сортировка — до продукта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46 / 55</a:t>
            </a:r>
            <a:endParaRPr lang="en-US" sz="1050" dirty="0"/>
          </a:p>
        </p:txBody>
      </p:sp>
      <p:sp>
        <p:nvSpPr>
          <p:cNvPr id="9" name="shot-46a"/>
          <p:cNvSpPr/>
          <p:nvPr/>
        </p:nvSpPr>
        <p:spPr>
          <a:xfrm>
            <a:off x="6096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6a-label"/>
          <p:cNvSpPr txBox="1"/>
          <p:nvPr/>
        </p:nvSpPr>
        <p:spPr>
          <a:xfrm>
            <a:off x="8191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01 · ENTRY</a:t>
            </a:r>
            <a:endParaRPr lang="en-US" sz="1125" dirty="0"/>
          </a:p>
        </p:txBody>
      </p:sp>
      <p:sp>
        <p:nvSpPr>
          <p:cNvPr id="11" name="shot-46a-brief"/>
          <p:cNvSpPr txBox="1"/>
          <p:nvPr/>
        </p:nvSpPr>
        <p:spPr>
          <a:xfrm>
            <a:off x="8191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 и объяснение системы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6a-spec"/>
          <p:cNvSpPr txBox="1"/>
          <p:nvPr/>
        </p:nvSpPr>
        <p:spPr>
          <a:xfrm>
            <a:off x="8191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1440×1024 · без device mockup</a:t>
            </a:r>
            <a:endParaRPr lang="en-US" sz="1050" dirty="0"/>
          </a:p>
        </p:txBody>
      </p:sp>
      <p:sp>
        <p:nvSpPr>
          <p:cNvPr id="14" name="shot-46a-purpose"/>
          <p:cNvSpPr txBox="1"/>
          <p:nvPr/>
        </p:nvSpPr>
        <p:spPr>
          <a:xfrm>
            <a:off x="8191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объяснить знак, риск и доступ без покупки</a:t>
            </a:r>
            <a:endParaRPr lang="en-US" sz="1125" dirty="0"/>
          </a:p>
        </p:txBody>
      </p:sp>
      <p:sp>
        <p:nvSpPr>
          <p:cNvPr id="15" name="shot-46b"/>
          <p:cNvSpPr/>
          <p:nvPr/>
        </p:nvSpPr>
        <p:spPr>
          <a:xfrm>
            <a:off x="43307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46b-label"/>
          <p:cNvSpPr txBox="1"/>
          <p:nvPr/>
        </p:nvSpPr>
        <p:spPr>
          <a:xfrm>
            <a:off x="45402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02 · CLASSES</a:t>
            </a:r>
            <a:endParaRPr lang="en-US" sz="1125" dirty="0"/>
          </a:p>
        </p:txBody>
      </p:sp>
      <p:sp>
        <p:nvSpPr>
          <p:cNvPr id="17" name="shot-46b-brief"/>
          <p:cNvSpPr txBox="1"/>
          <p:nvPr/>
        </p:nvSpPr>
        <p:spPr>
          <a:xfrm>
            <a:off x="45402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Карта родовых классов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45402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46b-spec"/>
          <p:cNvSpPr txBox="1"/>
          <p:nvPr/>
        </p:nvSpPr>
        <p:spPr>
          <a:xfrm>
            <a:off x="45402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1440×1024 · статично</a:t>
            </a:r>
            <a:endParaRPr lang="en-US" sz="1050" dirty="0"/>
          </a:p>
        </p:txBody>
      </p:sp>
      <p:sp>
        <p:nvSpPr>
          <p:cNvPr id="20" name="shot-46b-purpose"/>
          <p:cNvSpPr txBox="1"/>
          <p:nvPr/>
        </p:nvSpPr>
        <p:spPr>
          <a:xfrm>
            <a:off x="45402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выбрать класс до ассортимента</a:t>
            </a:r>
            <a:endParaRPr lang="en-US" sz="1125" dirty="0"/>
          </a:p>
        </p:txBody>
      </p:sp>
      <p:sp>
        <p:nvSpPr>
          <p:cNvPr id="21" name="shot-46c"/>
          <p:cNvSpPr/>
          <p:nvPr/>
        </p:nvSpPr>
        <p:spPr>
          <a:xfrm>
            <a:off x="80518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46c-label"/>
          <p:cNvSpPr txBox="1"/>
          <p:nvPr/>
        </p:nvSpPr>
        <p:spPr>
          <a:xfrm>
            <a:off x="82613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03 · TYPES</a:t>
            </a:r>
            <a:endParaRPr lang="en-US" sz="1125" dirty="0"/>
          </a:p>
        </p:txBody>
      </p:sp>
      <p:sp>
        <p:nvSpPr>
          <p:cNvPr id="23" name="shot-46c-brief"/>
          <p:cNvSpPr txBox="1"/>
          <p:nvPr/>
        </p:nvSpPr>
        <p:spPr>
          <a:xfrm>
            <a:off x="82613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Список технических типов и фильтры</a:t>
            </a:r>
            <a:endParaRPr lang="en-US" sz="1875" dirty="0"/>
          </a:p>
        </p:txBody>
      </p:sp>
      <p:sp>
        <p:nvSpPr>
          <p:cNvPr id="24" name="rule"/>
          <p:cNvSpPr/>
          <p:nvPr/>
        </p:nvSpPr>
        <p:spPr>
          <a:xfrm>
            <a:off x="82613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46c-spec"/>
          <p:cNvSpPr txBox="1"/>
          <p:nvPr/>
        </p:nvSpPr>
        <p:spPr>
          <a:xfrm>
            <a:off x="82613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1440×1024 · одинаковые строки</a:t>
            </a:r>
            <a:endParaRPr lang="en-US" sz="1050" dirty="0"/>
          </a:p>
        </p:txBody>
      </p:sp>
      <p:sp>
        <p:nvSpPr>
          <p:cNvPr id="26" name="shot-46c-purpose"/>
          <p:cNvSpPr txBox="1"/>
          <p:nvPr/>
        </p:nvSpPr>
        <p:spPr>
          <a:xfrm>
            <a:off x="82613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сортировать по форме, содержанию и режиму</a:t>
            </a:r>
            <a:endParaRPr lang="en-US" sz="11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DIGITAL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Риск — до наличия, сравнение — симметрично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47 / 55</a:t>
            </a:r>
            <a:endParaRPr lang="en-US" sz="1050" dirty="0"/>
          </a:p>
        </p:txBody>
      </p:sp>
      <p:sp>
        <p:nvSpPr>
          <p:cNvPr id="9" name="shot-47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7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04 · PRODUCT</a:t>
            </a:r>
            <a:endParaRPr lang="en-US" sz="1125" dirty="0"/>
          </a:p>
        </p:txBody>
      </p:sp>
      <p:sp>
        <p:nvSpPr>
          <p:cNvPr id="11" name="shot-47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Карточка продукта без hero-изображения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7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1440×1024 · полный экран</a:t>
            </a:r>
            <a:endParaRPr lang="en-US" sz="1050" dirty="0"/>
          </a:p>
        </p:txBody>
      </p:sp>
      <p:sp>
        <p:nvSpPr>
          <p:cNvPr id="14" name="shot-47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прочитать класс, содержание, риск, условия и источник</a:t>
            </a:r>
            <a:endParaRPr lang="en-US" sz="1125" dirty="0"/>
          </a:p>
        </p:txBody>
      </p:sp>
      <p:sp>
        <p:nvSpPr>
          <p:cNvPr id="15" name="shot-47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47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05 · COMPARE</a:t>
            </a:r>
            <a:endParaRPr lang="en-US" sz="1125" dirty="0"/>
          </a:p>
        </p:txBody>
      </p:sp>
      <p:sp>
        <p:nvSpPr>
          <p:cNvPr id="17" name="shot-47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Сравнение двух технических типов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47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1440×1024 · пропорция 6/6</a:t>
            </a:r>
            <a:endParaRPr lang="en-US" sz="1050" dirty="0"/>
          </a:p>
        </p:txBody>
      </p:sp>
      <p:sp>
        <p:nvSpPr>
          <p:cNvPr id="20" name="shot-47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только проверяемые свойства и риски</a:t>
            </a:r>
            <a:endParaRPr lang="en-US" sz="11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DIGITAL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Реестр и помощь остаются доступны без аккаунта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48 / 55</a:t>
            </a:r>
            <a:endParaRPr lang="en-US" sz="1050" dirty="0"/>
          </a:p>
        </p:txBody>
      </p:sp>
      <p:sp>
        <p:nvSpPr>
          <p:cNvPr id="9" name="shot-48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8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06 · BATCH / RECALL</a:t>
            </a:r>
            <a:endParaRPr lang="en-US" sz="1125" dirty="0"/>
          </a:p>
        </p:txBody>
      </p:sp>
      <p:sp>
        <p:nvSpPr>
          <p:cNvPr id="11" name="shot-48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Проверка партии и состояние отзыва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8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1440×1024 · normal / recall states</a:t>
            </a:r>
            <a:endParaRPr lang="en-US" sz="1050" dirty="0"/>
          </a:p>
        </p:txBody>
      </p:sp>
      <p:sp>
        <p:nvSpPr>
          <p:cNvPr id="14" name="shot-48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дать актуальное действие и историю изменения</a:t>
            </a:r>
            <a:endParaRPr lang="en-US" sz="1125" dirty="0"/>
          </a:p>
        </p:txBody>
      </p:sp>
      <p:sp>
        <p:nvSpPr>
          <p:cNvPr id="15" name="shot-48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48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07 · HELP / SOURCES</a:t>
            </a:r>
            <a:endParaRPr lang="en-US" sz="1125" dirty="0"/>
          </a:p>
        </p:txBody>
      </p:sp>
      <p:sp>
        <p:nvSpPr>
          <p:cNvPr id="17" name="shot-48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Помощь, источники и альтернативные форматы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48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desktop 1440×1024 · plain-language mode</a:t>
            </a:r>
            <a:endParaRPr lang="en-US" sz="1050" dirty="0"/>
          </a:p>
        </p:txBody>
      </p:sp>
      <p:sp>
        <p:nvSpPr>
          <p:cNvPr id="20" name="shot-48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получить помощь без транзакции и профиля</a:t>
            </a:r>
            <a:endParaRPr lang="en-US" sz="11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DIGITAL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Экран подтверждает единицу и количество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49 / 55</a:t>
            </a:r>
            <a:endParaRPr lang="en-US" sz="1050" dirty="0"/>
          </a:p>
        </p:txBody>
      </p:sp>
      <p:sp>
        <p:nvSpPr>
          <p:cNvPr id="9" name="shot-49a"/>
          <p:cNvSpPr/>
          <p:nvPr/>
        </p:nvSpPr>
        <p:spPr>
          <a:xfrm>
            <a:off x="609600" y="1924050"/>
            <a:ext cx="10972800" cy="38100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49a-label"/>
          <p:cNvSpPr txBox="1"/>
          <p:nvPr/>
        </p:nvSpPr>
        <p:spPr>
          <a:xfrm>
            <a:off x="819150" y="211455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 08 · ISSUANCE CONFIRMATION</a:t>
            </a:r>
            <a:endParaRPr lang="en-US" sz="1125" dirty="0"/>
          </a:p>
        </p:txBody>
      </p:sp>
      <p:sp>
        <p:nvSpPr>
          <p:cNvPr id="11" name="shot-49a-brief"/>
          <p:cNvSpPr txBox="1"/>
          <p:nvPr/>
        </p:nvSpPr>
        <p:spPr>
          <a:xfrm>
            <a:off x="819150" y="2457450"/>
            <a:ext cx="105537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Родовой тип · активное содержание · единица · количество · партия · подтверждение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857750"/>
            <a:ext cx="105537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49a-spec"/>
          <p:cNvSpPr txBox="1"/>
          <p:nvPr/>
        </p:nvSpPr>
        <p:spPr>
          <a:xfrm>
            <a:off x="819150" y="495300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staff desktop 1440×1024 · без рейтинга, маржи и sales prompts</a:t>
            </a:r>
            <a:endParaRPr lang="en-US" sz="1050" dirty="0"/>
          </a:p>
        </p:txBody>
      </p:sp>
      <p:sp>
        <p:nvSpPr>
          <p:cNvPr id="14" name="shot-49a-purpose"/>
          <p:cNvSpPr txBox="1"/>
          <p:nvPr/>
        </p:nvSpPr>
        <p:spPr>
          <a:xfrm>
            <a:off x="819150" y="5219700"/>
            <a:ext cx="10553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исключить ошибку перед выдачей</a:t>
            </a:r>
            <a:endParaRPr lang="en-US" sz="11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45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51435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SERVICE + SENSORY</a:t>
            </a:r>
            <a:endParaRPr lang="en-US" sz="1350" dirty="0"/>
          </a:p>
        </p:txBody>
      </p:sp>
      <p:sp>
        <p:nvSpPr>
          <p:cNvPr id="3" name="section-title"/>
          <p:cNvSpPr txBox="1"/>
          <p:nvPr/>
        </p:nvSpPr>
        <p:spPr>
          <a:xfrm>
            <a:off x="609600" y="1847850"/>
            <a:ext cx="952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Сервис и сенсорика</a:t>
            </a:r>
            <a:endParaRPr lang="en-US" sz="5400" dirty="0"/>
          </a:p>
        </p:txBody>
      </p:sp>
      <p:sp>
        <p:nvSpPr>
          <p:cNvPr id="4" name="section-subtitle"/>
          <p:cNvSpPr txBox="1"/>
          <p:nvPr/>
        </p:nvSpPr>
        <p:spPr>
          <a:xfrm>
            <a:off x="609600" y="3162300"/>
            <a:ext cx="8858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Процедура, свет и звук поддерживают ясность, приватность и возможность остановиться.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6B87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F2F0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/ 55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SERVICE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Пять сценариев используют одну и ту же процедуру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51 / 55</a:t>
            </a:r>
            <a:endParaRPr lang="en-US" sz="1050" dirty="0"/>
          </a:p>
        </p:txBody>
      </p:sp>
      <p:sp>
        <p:nvSpPr>
          <p:cNvPr id="9" name="shot-51a"/>
          <p:cNvSpPr/>
          <p:nvPr/>
        </p:nvSpPr>
        <p:spPr>
          <a:xfrm>
            <a:off x="609600" y="1924050"/>
            <a:ext cx="3524250" cy="17145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51a-label"/>
          <p:cNvSpPr txBox="1"/>
          <p:nvPr/>
        </p:nvSpPr>
        <p:spPr>
          <a:xfrm>
            <a:off x="762000" y="2057400"/>
            <a:ext cx="321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SCENARIO 01</a:t>
            </a:r>
            <a:endParaRPr lang="en-US" sz="975" dirty="0"/>
          </a:p>
        </p:txBody>
      </p:sp>
      <p:sp>
        <p:nvSpPr>
          <p:cNvPr id="11" name="shot-51a-brief"/>
          <p:cNvSpPr txBox="1"/>
          <p:nvPr/>
        </p:nvSpPr>
        <p:spPr>
          <a:xfrm>
            <a:off x="762000" y="2324100"/>
            <a:ext cx="3219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Только информация</a:t>
            </a:r>
            <a:endParaRPr lang="en-US" sz="1425" dirty="0"/>
          </a:p>
        </p:txBody>
      </p:sp>
      <p:sp>
        <p:nvSpPr>
          <p:cNvPr id="12" name="rule"/>
          <p:cNvSpPr/>
          <p:nvPr/>
        </p:nvSpPr>
        <p:spPr>
          <a:xfrm>
            <a:off x="762000" y="2952750"/>
            <a:ext cx="32194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51a-spec"/>
          <p:cNvSpPr txBox="1"/>
          <p:nvPr/>
        </p:nvSpPr>
        <p:spPr>
          <a:xfrm>
            <a:off x="762000" y="3028950"/>
            <a:ext cx="321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ключевых кадра</a:t>
            </a:r>
            <a:endParaRPr lang="en-US" sz="900" dirty="0"/>
          </a:p>
        </p:txBody>
      </p:sp>
      <p:sp>
        <p:nvSpPr>
          <p:cNvPr id="14" name="shot-51a-purpose"/>
          <p:cNvSpPr txBox="1"/>
          <p:nvPr/>
        </p:nvSpPr>
        <p:spPr>
          <a:xfrm>
            <a:off x="762000" y="3257550"/>
            <a:ext cx="32194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не перевести запрос в продажу</a:t>
            </a:r>
            <a:endParaRPr lang="en-US" sz="900" dirty="0"/>
          </a:p>
        </p:txBody>
      </p:sp>
      <p:sp>
        <p:nvSpPr>
          <p:cNvPr id="15" name="shot-51b"/>
          <p:cNvSpPr/>
          <p:nvPr/>
        </p:nvSpPr>
        <p:spPr>
          <a:xfrm>
            <a:off x="4324350" y="1924050"/>
            <a:ext cx="3524250" cy="17145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51b-label"/>
          <p:cNvSpPr txBox="1"/>
          <p:nvPr/>
        </p:nvSpPr>
        <p:spPr>
          <a:xfrm>
            <a:off x="4476750" y="2057400"/>
            <a:ext cx="321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SCENARIO 02</a:t>
            </a:r>
            <a:endParaRPr lang="en-US" sz="975" dirty="0"/>
          </a:p>
        </p:txBody>
      </p:sp>
      <p:sp>
        <p:nvSpPr>
          <p:cNvPr id="17" name="shot-51b-brief"/>
          <p:cNvSpPr txBox="1"/>
          <p:nvPr/>
        </p:nvSpPr>
        <p:spPr>
          <a:xfrm>
            <a:off x="4476750" y="2324100"/>
            <a:ext cx="3219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Стандартная выдача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4476750" y="2952750"/>
            <a:ext cx="32194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51b-spec"/>
          <p:cNvSpPr txBox="1"/>
          <p:nvPr/>
        </p:nvSpPr>
        <p:spPr>
          <a:xfrm>
            <a:off x="4476750" y="3028950"/>
            <a:ext cx="321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ключевых кадра</a:t>
            </a:r>
            <a:endParaRPr lang="en-US" sz="900" dirty="0"/>
          </a:p>
        </p:txBody>
      </p:sp>
      <p:sp>
        <p:nvSpPr>
          <p:cNvPr id="20" name="shot-51b-purpose"/>
          <p:cNvSpPr txBox="1"/>
          <p:nvPr/>
        </p:nvSpPr>
        <p:spPr>
          <a:xfrm>
            <a:off x="4476750" y="3257550"/>
            <a:ext cx="32194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подтвердить тип, единицу и количество</a:t>
            </a:r>
            <a:endParaRPr lang="en-US" sz="900" dirty="0"/>
          </a:p>
        </p:txBody>
      </p:sp>
      <p:sp>
        <p:nvSpPr>
          <p:cNvPr id="21" name="shot-51c"/>
          <p:cNvSpPr/>
          <p:nvPr/>
        </p:nvSpPr>
        <p:spPr>
          <a:xfrm>
            <a:off x="8039100" y="1924050"/>
            <a:ext cx="3524250" cy="17145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51c-label"/>
          <p:cNvSpPr txBox="1"/>
          <p:nvPr/>
        </p:nvSpPr>
        <p:spPr>
          <a:xfrm>
            <a:off x="8191500" y="2057400"/>
            <a:ext cx="321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SCENARIO 03</a:t>
            </a:r>
            <a:endParaRPr lang="en-US" sz="975" dirty="0"/>
          </a:p>
        </p:txBody>
      </p:sp>
      <p:sp>
        <p:nvSpPr>
          <p:cNvPr id="23" name="shot-51c-brief"/>
          <p:cNvSpPr txBox="1"/>
          <p:nvPr/>
        </p:nvSpPr>
        <p:spPr>
          <a:xfrm>
            <a:off x="8191500" y="2324100"/>
            <a:ext cx="3219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Вопрос о сравнении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8191500" y="2952750"/>
            <a:ext cx="32194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51c-spec"/>
          <p:cNvSpPr txBox="1"/>
          <p:nvPr/>
        </p:nvSpPr>
        <p:spPr>
          <a:xfrm>
            <a:off x="8191500" y="3028950"/>
            <a:ext cx="321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ключевых кадра</a:t>
            </a:r>
            <a:endParaRPr lang="en-US" sz="900" dirty="0"/>
          </a:p>
        </p:txBody>
      </p:sp>
      <p:sp>
        <p:nvSpPr>
          <p:cNvPr id="26" name="shot-51c-purpose"/>
          <p:cNvSpPr txBox="1"/>
          <p:nvPr/>
        </p:nvSpPr>
        <p:spPr>
          <a:xfrm>
            <a:off x="8191500" y="3257550"/>
            <a:ext cx="32194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свойства и риск без рекомендации</a:t>
            </a:r>
            <a:endParaRPr lang="en-US" sz="900" dirty="0"/>
          </a:p>
        </p:txBody>
      </p:sp>
      <p:sp>
        <p:nvSpPr>
          <p:cNvPr id="27" name="shot-51d"/>
          <p:cNvSpPr/>
          <p:nvPr/>
        </p:nvSpPr>
        <p:spPr>
          <a:xfrm>
            <a:off x="609600" y="3829050"/>
            <a:ext cx="5391150" cy="17145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8" name="shot-51d-label"/>
          <p:cNvSpPr txBox="1"/>
          <p:nvPr/>
        </p:nvSpPr>
        <p:spPr>
          <a:xfrm>
            <a:off x="762000" y="3962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SCENARIO 04</a:t>
            </a:r>
            <a:endParaRPr lang="en-US" sz="975" dirty="0"/>
          </a:p>
        </p:txBody>
      </p:sp>
      <p:sp>
        <p:nvSpPr>
          <p:cNvPr id="29" name="shot-51d-brief"/>
          <p:cNvSpPr txBox="1"/>
          <p:nvPr/>
        </p:nvSpPr>
        <p:spPr>
          <a:xfrm>
            <a:off x="762000" y="4229100"/>
            <a:ext cx="5086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Понятный отказ</a:t>
            </a:r>
            <a:endParaRPr lang="en-US" sz="1425" dirty="0"/>
          </a:p>
        </p:txBody>
      </p:sp>
      <p:sp>
        <p:nvSpPr>
          <p:cNvPr id="30" name="rule"/>
          <p:cNvSpPr/>
          <p:nvPr/>
        </p:nvSpPr>
        <p:spPr>
          <a:xfrm>
            <a:off x="762000" y="48577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ot-51d-spec"/>
          <p:cNvSpPr txBox="1"/>
          <p:nvPr/>
        </p:nvSpPr>
        <p:spPr>
          <a:xfrm>
            <a:off x="762000" y="49339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ключевых кадра</a:t>
            </a:r>
            <a:endParaRPr lang="en-US" sz="900" dirty="0"/>
          </a:p>
        </p:txBody>
      </p:sp>
      <p:sp>
        <p:nvSpPr>
          <p:cNvPr id="32" name="shot-51d-purpose"/>
          <p:cNvSpPr txBox="1"/>
          <p:nvPr/>
        </p:nvSpPr>
        <p:spPr>
          <a:xfrm>
            <a:off x="762000" y="51625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объяснить правило и следующий шаг</a:t>
            </a:r>
            <a:endParaRPr lang="en-US" sz="900" dirty="0"/>
          </a:p>
        </p:txBody>
      </p:sp>
      <p:sp>
        <p:nvSpPr>
          <p:cNvPr id="33" name="shot-51e"/>
          <p:cNvSpPr/>
          <p:nvPr/>
        </p:nvSpPr>
        <p:spPr>
          <a:xfrm>
            <a:off x="6191250" y="3829050"/>
            <a:ext cx="5391150" cy="17145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34" name="shot-51e-label"/>
          <p:cNvSpPr txBox="1"/>
          <p:nvPr/>
        </p:nvSpPr>
        <p:spPr>
          <a:xfrm>
            <a:off x="6343650" y="3962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SCENARIO 05</a:t>
            </a:r>
            <a:endParaRPr lang="en-US" sz="975" dirty="0"/>
          </a:p>
        </p:txBody>
      </p:sp>
      <p:sp>
        <p:nvSpPr>
          <p:cNvPr id="35" name="shot-51e-brief"/>
          <p:cNvSpPr txBox="1"/>
          <p:nvPr/>
        </p:nvSpPr>
        <p:spPr>
          <a:xfrm>
            <a:off x="6343650" y="4229100"/>
            <a:ext cx="5086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Запрос помощи</a:t>
            </a:r>
            <a:endParaRPr lang="en-US" sz="1425" dirty="0"/>
          </a:p>
        </p:txBody>
      </p:sp>
      <p:sp>
        <p:nvSpPr>
          <p:cNvPr id="36" name="rule"/>
          <p:cNvSpPr/>
          <p:nvPr/>
        </p:nvSpPr>
        <p:spPr>
          <a:xfrm>
            <a:off x="6343650" y="48577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ot-51e-spec"/>
          <p:cNvSpPr txBox="1"/>
          <p:nvPr/>
        </p:nvSpPr>
        <p:spPr>
          <a:xfrm>
            <a:off x="6343650" y="49339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ключевых кадра</a:t>
            </a:r>
            <a:endParaRPr lang="en-US" sz="900" dirty="0"/>
          </a:p>
        </p:txBody>
      </p:sp>
      <p:sp>
        <p:nvSpPr>
          <p:cNvPr id="38" name="shot-51e-purpose"/>
          <p:cNvSpPr txBox="1"/>
          <p:nvPr/>
        </p:nvSpPr>
        <p:spPr>
          <a:xfrm>
            <a:off x="6343650" y="51625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дать независимый маршрут без покупки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SERVICE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Отказ объясняет правило и оставляет следующий шаг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52 / 55</a:t>
            </a:r>
            <a:endParaRPr lang="en-US" sz="1050" dirty="0"/>
          </a:p>
        </p:txBody>
      </p:sp>
      <p:sp>
        <p:nvSpPr>
          <p:cNvPr id="9" name="shot-52a"/>
          <p:cNvSpPr/>
          <p:nvPr/>
        </p:nvSpPr>
        <p:spPr>
          <a:xfrm>
            <a:off x="609600" y="192405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52a-label"/>
          <p:cNvSpPr txBox="1"/>
          <p:nvPr/>
        </p:nvSpPr>
        <p:spPr>
          <a:xfrm>
            <a:off x="762000" y="2057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BEAT 01 · PRIVATE</a:t>
            </a:r>
            <a:endParaRPr lang="en-US" sz="975" dirty="0"/>
          </a:p>
        </p:txBody>
      </p:sp>
      <p:sp>
        <p:nvSpPr>
          <p:cNvPr id="11" name="shot-52a-brief"/>
          <p:cNvSpPr txBox="1"/>
          <p:nvPr/>
        </p:nvSpPr>
        <p:spPr>
          <a:xfrm>
            <a:off x="762000" y="232410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Разговор переводится в приватную громкость</a:t>
            </a:r>
            <a:endParaRPr lang="en-US" sz="1425" dirty="0"/>
          </a:p>
        </p:txBody>
      </p:sp>
      <p:sp>
        <p:nvSpPr>
          <p:cNvPr id="12" name="rule"/>
          <p:cNvSpPr/>
          <p:nvPr/>
        </p:nvSpPr>
        <p:spPr>
          <a:xfrm>
            <a:off x="762000" y="304800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52a-spec"/>
          <p:cNvSpPr txBox="1"/>
          <p:nvPr/>
        </p:nvSpPr>
        <p:spPr>
          <a:xfrm>
            <a:off x="762000" y="31242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средний план · одна ось</a:t>
            </a:r>
            <a:endParaRPr lang="en-US" sz="900" dirty="0"/>
          </a:p>
        </p:txBody>
      </p:sp>
      <p:sp>
        <p:nvSpPr>
          <p:cNvPr id="14" name="shot-52a-purpose"/>
          <p:cNvSpPr txBox="1"/>
          <p:nvPr/>
        </p:nvSpPr>
        <p:spPr>
          <a:xfrm>
            <a:off x="762000" y="335280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не раскрыть продукт и причину окружающим</a:t>
            </a:r>
            <a:endParaRPr lang="en-US" sz="900" dirty="0"/>
          </a:p>
        </p:txBody>
      </p:sp>
      <p:sp>
        <p:nvSpPr>
          <p:cNvPr id="15" name="shot-52b"/>
          <p:cNvSpPr/>
          <p:nvPr/>
        </p:nvSpPr>
        <p:spPr>
          <a:xfrm>
            <a:off x="6191250" y="192405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52b-label"/>
          <p:cNvSpPr txBox="1"/>
          <p:nvPr/>
        </p:nvSpPr>
        <p:spPr>
          <a:xfrm>
            <a:off x="6343650" y="20574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BEAT 02 · REASON</a:t>
            </a:r>
            <a:endParaRPr lang="en-US" sz="975" dirty="0"/>
          </a:p>
        </p:txBody>
      </p:sp>
      <p:sp>
        <p:nvSpPr>
          <p:cNvPr id="17" name="shot-52b-brief"/>
          <p:cNvSpPr txBox="1"/>
          <p:nvPr/>
        </p:nvSpPr>
        <p:spPr>
          <a:xfrm>
            <a:off x="6343650" y="232410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Причина X названа без оценки человека</a:t>
            </a:r>
            <a:endParaRPr lang="en-US" sz="1425" dirty="0"/>
          </a:p>
        </p:txBody>
      </p:sp>
      <p:sp>
        <p:nvSpPr>
          <p:cNvPr id="18" name="rule"/>
          <p:cNvSpPr/>
          <p:nvPr/>
        </p:nvSpPr>
        <p:spPr>
          <a:xfrm>
            <a:off x="6343650" y="304800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52b-spec"/>
          <p:cNvSpPr txBox="1"/>
          <p:nvPr/>
        </p:nvSpPr>
        <p:spPr>
          <a:xfrm>
            <a:off x="6343650" y="312420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тот же ракурс</a:t>
            </a:r>
            <a:endParaRPr lang="en-US" sz="900" dirty="0"/>
          </a:p>
        </p:txBody>
      </p:sp>
      <p:sp>
        <p:nvSpPr>
          <p:cNvPr id="20" name="shot-52b-purpose"/>
          <p:cNvSpPr txBox="1"/>
          <p:nvPr/>
        </p:nvSpPr>
        <p:spPr>
          <a:xfrm>
            <a:off x="6343650" y="335280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отделить правило от морали</a:t>
            </a:r>
            <a:endParaRPr lang="en-US" sz="900" dirty="0"/>
          </a:p>
        </p:txBody>
      </p:sp>
      <p:sp>
        <p:nvSpPr>
          <p:cNvPr id="21" name="shot-52c"/>
          <p:cNvSpPr/>
          <p:nvPr/>
        </p:nvSpPr>
        <p:spPr>
          <a:xfrm>
            <a:off x="609600" y="392430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52c-label"/>
          <p:cNvSpPr txBox="1"/>
          <p:nvPr/>
        </p:nvSpPr>
        <p:spPr>
          <a:xfrm>
            <a:off x="762000" y="40576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BEAT 03 · NEXT STEP</a:t>
            </a:r>
            <a:endParaRPr lang="en-US" sz="975" dirty="0"/>
          </a:p>
        </p:txBody>
      </p:sp>
      <p:sp>
        <p:nvSpPr>
          <p:cNvPr id="23" name="shot-52c-brief"/>
          <p:cNvSpPr txBox="1"/>
          <p:nvPr/>
        </p:nvSpPr>
        <p:spPr>
          <a:xfrm>
            <a:off x="762000" y="432435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Показан доступный следующий шаг Y</a:t>
            </a:r>
            <a:endParaRPr lang="en-US" sz="1425" dirty="0"/>
          </a:p>
        </p:txBody>
      </p:sp>
      <p:sp>
        <p:nvSpPr>
          <p:cNvPr id="24" name="rule"/>
          <p:cNvSpPr/>
          <p:nvPr/>
        </p:nvSpPr>
        <p:spPr>
          <a:xfrm>
            <a:off x="762000" y="50482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52c-spec"/>
          <p:cNvSpPr txBox="1"/>
          <p:nvPr/>
        </p:nvSpPr>
        <p:spPr>
          <a:xfrm>
            <a:off x="762000" y="51244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тот же ракурс + носитель</a:t>
            </a:r>
            <a:endParaRPr lang="en-US" sz="900" dirty="0"/>
          </a:p>
        </p:txBody>
      </p:sp>
      <p:sp>
        <p:nvSpPr>
          <p:cNvPr id="26" name="shot-52c-purpose"/>
          <p:cNvSpPr txBox="1"/>
          <p:nvPr/>
        </p:nvSpPr>
        <p:spPr>
          <a:xfrm>
            <a:off x="762000" y="53530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дать исправление, отсрочку или обжалование</a:t>
            </a:r>
            <a:endParaRPr lang="en-US" sz="900" dirty="0"/>
          </a:p>
        </p:txBody>
      </p:sp>
      <p:sp>
        <p:nvSpPr>
          <p:cNvPr id="27" name="shot-52d"/>
          <p:cNvSpPr/>
          <p:nvPr/>
        </p:nvSpPr>
        <p:spPr>
          <a:xfrm>
            <a:off x="6191250" y="3924300"/>
            <a:ext cx="5391150" cy="180975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8" name="shot-52d-label"/>
          <p:cNvSpPr txBox="1"/>
          <p:nvPr/>
        </p:nvSpPr>
        <p:spPr>
          <a:xfrm>
            <a:off x="6343650" y="40576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BEAT 04 · CLOSE</a:t>
            </a:r>
            <a:endParaRPr lang="en-US" sz="975" dirty="0"/>
          </a:p>
        </p:txBody>
      </p:sp>
      <p:sp>
        <p:nvSpPr>
          <p:cNvPr id="29" name="shot-52d-brief"/>
          <p:cNvSpPr txBox="1"/>
          <p:nvPr/>
        </p:nvSpPr>
        <p:spPr>
          <a:xfrm>
            <a:off x="6343650" y="4324350"/>
            <a:ext cx="5086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Информация и помощь остаются доступны</a:t>
            </a:r>
            <a:endParaRPr lang="en-US" sz="1425" dirty="0"/>
          </a:p>
        </p:txBody>
      </p:sp>
      <p:sp>
        <p:nvSpPr>
          <p:cNvPr id="30" name="rule"/>
          <p:cNvSpPr/>
          <p:nvPr/>
        </p:nvSpPr>
        <p:spPr>
          <a:xfrm>
            <a:off x="6343650" y="5048250"/>
            <a:ext cx="50863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ot-52d-spec"/>
          <p:cNvSpPr txBox="1"/>
          <p:nvPr/>
        </p:nvSpPr>
        <p:spPr>
          <a:xfrm>
            <a:off x="6343650" y="5124450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статичный финальный кадр</a:t>
            </a:r>
            <a:endParaRPr lang="en-US" sz="900" dirty="0"/>
          </a:p>
        </p:txBody>
      </p:sp>
      <p:sp>
        <p:nvSpPr>
          <p:cNvPr id="32" name="shot-52d-purpose"/>
          <p:cNvSpPr txBox="1"/>
          <p:nvPr/>
        </p:nvSpPr>
        <p:spPr>
          <a:xfrm>
            <a:off x="6343650" y="5353050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завершить без угрозы и sales-языка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SENSORY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Свет поддерживает чтение, звук — приватность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53 / 55</a:t>
            </a:r>
            <a:endParaRPr lang="en-US" sz="1050" dirty="0"/>
          </a:p>
        </p:txBody>
      </p:sp>
      <p:sp>
        <p:nvSpPr>
          <p:cNvPr id="9" name="shot-53a"/>
          <p:cNvSpPr/>
          <p:nvPr/>
        </p:nvSpPr>
        <p:spPr>
          <a:xfrm>
            <a:off x="60960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53a-label"/>
          <p:cNvSpPr txBox="1"/>
          <p:nvPr/>
        </p:nvSpPr>
        <p:spPr>
          <a:xfrm>
            <a:off x="81915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SENSORY 01 · LIGHT</a:t>
            </a:r>
            <a:endParaRPr lang="en-US" sz="1125" dirty="0"/>
          </a:p>
        </p:txBody>
      </p:sp>
      <p:sp>
        <p:nvSpPr>
          <p:cNvPr id="11" name="shot-53a-brief"/>
          <p:cNvSpPr txBox="1"/>
          <p:nvPr/>
        </p:nvSpPr>
        <p:spPr>
          <a:xfrm>
            <a:off x="81915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План света и контрольный eye-level вид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53a-spec"/>
          <p:cNvSpPr txBox="1"/>
          <p:nvPr/>
        </p:nvSpPr>
        <p:spPr>
          <a:xfrm>
            <a:off x="81915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план потолка + false-color lux overlay</a:t>
            </a:r>
            <a:endParaRPr lang="en-US" sz="1050" dirty="0"/>
          </a:p>
        </p:txBody>
      </p:sp>
      <p:sp>
        <p:nvSpPr>
          <p:cNvPr id="14" name="shot-53a-purpose"/>
          <p:cNvSpPr txBox="1"/>
          <p:nvPr/>
        </p:nvSpPr>
        <p:spPr>
          <a:xfrm>
            <a:off x="81915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300–500 / 500–750 lux без spotlights</a:t>
            </a:r>
            <a:endParaRPr lang="en-US" sz="1125" dirty="0"/>
          </a:p>
        </p:txBody>
      </p:sp>
      <p:sp>
        <p:nvSpPr>
          <p:cNvPr id="15" name="shot-53b"/>
          <p:cNvSpPr/>
          <p:nvPr/>
        </p:nvSpPr>
        <p:spPr>
          <a:xfrm>
            <a:off x="6191250" y="1924050"/>
            <a:ext cx="539115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53b-label"/>
          <p:cNvSpPr txBox="1"/>
          <p:nvPr/>
        </p:nvSpPr>
        <p:spPr>
          <a:xfrm>
            <a:off x="6400800" y="211455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SENSORY 02 · ACOUSTICS</a:t>
            </a:r>
            <a:endParaRPr lang="en-US" sz="1125" dirty="0"/>
          </a:p>
        </p:txBody>
      </p:sp>
      <p:sp>
        <p:nvSpPr>
          <p:cNvPr id="17" name="shot-53b-brief"/>
          <p:cNvSpPr txBox="1"/>
          <p:nvPr/>
        </p:nvSpPr>
        <p:spPr>
          <a:xfrm>
            <a:off x="6400800" y="2457450"/>
            <a:ext cx="4972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Акустические зоны и границы речи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6400800" y="4781550"/>
            <a:ext cx="497205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53b-spec"/>
          <p:cNvSpPr txBox="1"/>
          <p:nvPr/>
        </p:nvSpPr>
        <p:spPr>
          <a:xfrm>
            <a:off x="6400800" y="48768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план + разрез · источник / слушатель отмечены</a:t>
            </a:r>
            <a:endParaRPr lang="en-US" sz="1050" dirty="0"/>
          </a:p>
        </p:txBody>
      </p:sp>
      <p:sp>
        <p:nvSpPr>
          <p:cNvPr id="20" name="shot-53b-purpose"/>
          <p:cNvSpPr txBox="1"/>
          <p:nvPr/>
        </p:nvSpPr>
        <p:spPr>
          <a:xfrm>
            <a:off x="6400800" y="5143500"/>
            <a:ext cx="4972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сохранить нужную речь и скрыть соседнюю транзакцию</a:t>
            </a:r>
            <a:endParaRPr lang="en-US" sz="11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 · SENSORY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Три режима сравниваются с одной камеры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54 / 55</a:t>
            </a:r>
            <a:endParaRPr lang="en-US" sz="1050" dirty="0"/>
          </a:p>
        </p:txBody>
      </p:sp>
      <p:sp>
        <p:nvSpPr>
          <p:cNvPr id="9" name="shot-54a"/>
          <p:cNvSpPr/>
          <p:nvPr/>
        </p:nvSpPr>
        <p:spPr>
          <a:xfrm>
            <a:off x="6096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54a-label"/>
          <p:cNvSpPr txBox="1"/>
          <p:nvPr/>
        </p:nvSpPr>
        <p:spPr>
          <a:xfrm>
            <a:off x="8191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CONTROL 01 · COMMERCIAL</a:t>
            </a:r>
            <a:endParaRPr lang="en-US" sz="1125" dirty="0"/>
          </a:p>
        </p:txBody>
      </p:sp>
      <p:sp>
        <p:nvSpPr>
          <p:cNvPr id="11" name="shot-54a-brief"/>
          <p:cNvSpPr txBox="1"/>
          <p:nvPr/>
        </p:nvSpPr>
        <p:spPr>
          <a:xfrm>
            <a:off x="8191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Коммерческий свет / звук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54a-spec"/>
          <p:cNvSpPr txBox="1"/>
          <p:nvPr/>
        </p:nvSpPr>
        <p:spPr>
          <a:xfrm>
            <a:off x="8191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одна камера · экспозиция · архитектура</a:t>
            </a:r>
            <a:endParaRPr lang="en-US" sz="1050" dirty="0"/>
          </a:p>
        </p:txBody>
      </p:sp>
      <p:sp>
        <p:nvSpPr>
          <p:cNvPr id="14" name="shot-54a-purpose"/>
          <p:cNvSpPr txBox="1"/>
          <p:nvPr/>
        </p:nvSpPr>
        <p:spPr>
          <a:xfrm>
            <a:off x="8191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зафиксировать стимулирующий контроль</a:t>
            </a:r>
            <a:endParaRPr lang="en-US" sz="1125" dirty="0"/>
          </a:p>
        </p:txBody>
      </p:sp>
      <p:sp>
        <p:nvSpPr>
          <p:cNvPr id="15" name="shot-54b"/>
          <p:cNvSpPr/>
          <p:nvPr/>
        </p:nvSpPr>
        <p:spPr>
          <a:xfrm>
            <a:off x="43307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6" name="shot-54b-label"/>
          <p:cNvSpPr txBox="1"/>
          <p:nvPr/>
        </p:nvSpPr>
        <p:spPr>
          <a:xfrm>
            <a:off x="45402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CONTROL 02 · HOSTILE PLAIN</a:t>
            </a:r>
            <a:endParaRPr lang="en-US" sz="1125" dirty="0"/>
          </a:p>
        </p:txBody>
      </p:sp>
      <p:sp>
        <p:nvSpPr>
          <p:cNvPr id="17" name="shot-54b-brief"/>
          <p:cNvSpPr txBox="1"/>
          <p:nvPr/>
        </p:nvSpPr>
        <p:spPr>
          <a:xfrm>
            <a:off x="45402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Враждебная plain-среда</a:t>
            </a:r>
            <a:endParaRPr lang="en-US" sz="1875" dirty="0"/>
          </a:p>
        </p:txBody>
      </p:sp>
      <p:sp>
        <p:nvSpPr>
          <p:cNvPr id="18" name="rule"/>
          <p:cNvSpPr/>
          <p:nvPr/>
        </p:nvSpPr>
        <p:spPr>
          <a:xfrm>
            <a:off x="45402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ot-54b-spec"/>
          <p:cNvSpPr txBox="1"/>
          <p:nvPr/>
        </p:nvSpPr>
        <p:spPr>
          <a:xfrm>
            <a:off x="45402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одна камера · экспозиция · архитектура</a:t>
            </a:r>
            <a:endParaRPr lang="en-US" sz="1050" dirty="0"/>
          </a:p>
        </p:txBody>
      </p:sp>
      <p:sp>
        <p:nvSpPr>
          <p:cNvPr id="20" name="shot-54b-purpose"/>
          <p:cNvSpPr txBox="1"/>
          <p:nvPr/>
        </p:nvSpPr>
        <p:spPr>
          <a:xfrm>
            <a:off x="45402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зафиксировать карательный контроль</a:t>
            </a:r>
            <a:endParaRPr lang="en-US" sz="1125" dirty="0"/>
          </a:p>
        </p:txBody>
      </p:sp>
      <p:sp>
        <p:nvSpPr>
          <p:cNvPr id="21" name="shot-54c"/>
          <p:cNvSpPr/>
          <p:nvPr/>
        </p:nvSpPr>
        <p:spPr>
          <a:xfrm>
            <a:off x="8051800" y="1924050"/>
            <a:ext cx="3530600" cy="37338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22" name="shot-54c-label"/>
          <p:cNvSpPr txBox="1"/>
          <p:nvPr/>
        </p:nvSpPr>
        <p:spPr>
          <a:xfrm>
            <a:off x="8261350" y="211455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PROTOTYPE · RC</a:t>
            </a:r>
            <a:endParaRPr lang="en-US" sz="1125" dirty="0"/>
          </a:p>
        </p:txBody>
      </p:sp>
      <p:sp>
        <p:nvSpPr>
          <p:cNvPr id="23" name="shot-54c-brief"/>
          <p:cNvSpPr txBox="1"/>
          <p:nvPr/>
        </p:nvSpPr>
        <p:spPr>
          <a:xfrm>
            <a:off x="8261350" y="2457450"/>
            <a:ext cx="31115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Responsible Control</a:t>
            </a:r>
            <a:endParaRPr lang="en-US" sz="1875" dirty="0"/>
          </a:p>
        </p:txBody>
      </p:sp>
      <p:sp>
        <p:nvSpPr>
          <p:cNvPr id="24" name="rule"/>
          <p:cNvSpPr/>
          <p:nvPr/>
        </p:nvSpPr>
        <p:spPr>
          <a:xfrm>
            <a:off x="8261350" y="4781550"/>
            <a:ext cx="31115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ot-54c-spec"/>
          <p:cNvSpPr txBox="1"/>
          <p:nvPr/>
        </p:nvSpPr>
        <p:spPr>
          <a:xfrm>
            <a:off x="8261350" y="4876800"/>
            <a:ext cx="311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одна камера · экспозиция · архитектура</a:t>
            </a:r>
            <a:endParaRPr lang="en-US" sz="1050" dirty="0"/>
          </a:p>
        </p:txBody>
      </p:sp>
      <p:sp>
        <p:nvSpPr>
          <p:cNvPr id="26" name="shot-54c-purpose"/>
          <p:cNvSpPr txBox="1"/>
          <p:nvPr/>
        </p:nvSpPr>
        <p:spPr>
          <a:xfrm>
            <a:off x="8261350" y="5143500"/>
            <a:ext cx="31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сравнить понимание, давление и приватность</a:t>
            </a:r>
            <a:endParaRPr lang="en-US" sz="11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 txBox="1"/>
          <p:nvPr/>
        </p:nvSpPr>
        <p:spPr>
          <a:xfrm>
            <a:off x="609600" y="419100"/>
            <a:ext cx="7239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SOLUTION FRAMES</a:t>
            </a:r>
            <a:endParaRPr lang="en-US" sz="1350" dirty="0"/>
          </a:p>
        </p:txBody>
      </p:sp>
      <p:sp>
        <p:nvSpPr>
          <p:cNvPr id="3" name="rule"/>
          <p:cNvSpPr/>
          <p:nvPr/>
        </p:nvSpPr>
        <p:spPr>
          <a:xfrm>
            <a:off x="609600" y="74295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lide-title"/>
          <p:cNvSpPr txBox="1"/>
          <p:nvPr/>
        </p:nvSpPr>
        <p:spPr>
          <a:xfrm>
            <a:off x="609600" y="1028700"/>
            <a:ext cx="10972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Весь прототип должен читаться как одна система</a:t>
            </a:r>
            <a:endParaRPr lang="en-US" sz="3150" dirty="0"/>
          </a:p>
        </p:txBody>
      </p:sp>
      <p:sp>
        <p:nvSpPr>
          <p:cNvPr id="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footer-mark"/>
          <p:cNvSpPr txBox="1"/>
          <p:nvPr/>
        </p:nvSpPr>
        <p:spPr>
          <a:xfrm>
            <a:off x="609600" y="65341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RESPONSIBLE CONTROL · INFORMATION STANDARD · v0.1</a:t>
            </a:r>
            <a:endParaRPr lang="en-US" sz="1050" dirty="0"/>
          </a:p>
        </p:txBody>
      </p:sp>
      <p:sp>
        <p:nvSpPr>
          <p:cNvPr id="7" name="footer-number"/>
          <p:cNvSpPr txBox="1"/>
          <p:nvPr/>
        </p:nvSpPr>
        <p:spPr>
          <a:xfrm>
            <a:off x="10629900" y="65341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55 / 55</a:t>
            </a:r>
            <a:endParaRPr lang="en-US" sz="1050" dirty="0"/>
          </a:p>
        </p:txBody>
      </p:sp>
      <p:sp>
        <p:nvSpPr>
          <p:cNvPr id="9" name="shot-55a"/>
          <p:cNvSpPr/>
          <p:nvPr/>
        </p:nvSpPr>
        <p:spPr>
          <a:xfrm>
            <a:off x="609600" y="1924050"/>
            <a:ext cx="10972800" cy="2857500"/>
          </a:xfrm>
          <a:prstGeom prst="rect">
            <a:avLst/>
          </a:prstGeom>
          <a:solidFill>
            <a:srgbClr val="E8E6DF"/>
          </a:solidFill>
          <a:ln w="19050">
            <a:solidFill>
              <a:srgbClr val="C9C7C0"/>
            </a:solidFill>
            <a:prstDash val="solid"/>
          </a:ln>
        </p:spPr>
      </p:sp>
      <p:sp>
        <p:nvSpPr>
          <p:cNvPr id="10" name="shot-55a-label"/>
          <p:cNvSpPr txBox="1"/>
          <p:nvPr/>
        </p:nvSpPr>
        <p:spPr>
          <a:xfrm>
            <a:off x="819150" y="211455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FINAL VIEW · COMPLETE PROTOTYPE</a:t>
            </a:r>
            <a:endParaRPr lang="en-US" sz="1125" dirty="0"/>
          </a:p>
        </p:txBody>
      </p:sp>
      <p:sp>
        <p:nvSpPr>
          <p:cNvPr id="11" name="shot-55a-brief"/>
          <p:cNvSpPr txBox="1"/>
          <p:nvPr/>
        </p:nvSpPr>
        <p:spPr>
          <a:xfrm>
            <a:off x="819150" y="2457450"/>
            <a:ext cx="10553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Упаковка · пространство · печать · digital · сервис · сенсорные режимы</a:t>
            </a:r>
            <a:endParaRPr lang="en-US" sz="1875" dirty="0"/>
          </a:p>
        </p:txBody>
      </p:sp>
      <p:sp>
        <p:nvSpPr>
          <p:cNvPr id="12" name="rule"/>
          <p:cNvSpPr/>
          <p:nvPr/>
        </p:nvSpPr>
        <p:spPr>
          <a:xfrm>
            <a:off x="819150" y="3905250"/>
            <a:ext cx="10553700" cy="9525"/>
          </a:xfrm>
          <a:prstGeom prst="rect">
            <a:avLst/>
          </a:prstGeom>
          <a:solidFill>
            <a:srgbClr val="C9C7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ot-55a-spec"/>
          <p:cNvSpPr txBox="1"/>
          <p:nvPr/>
        </p:nvSpPr>
        <p:spPr>
          <a:xfrm>
            <a:off x="819150" y="4000500"/>
            <a:ext cx="1055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C5C5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общий документальный вид · без product hero · все носители различимы</a:t>
            </a:r>
            <a:endParaRPr lang="en-US" sz="1050" dirty="0"/>
          </a:p>
        </p:txBody>
      </p:sp>
      <p:sp>
        <p:nvSpPr>
          <p:cNvPr id="14" name="shot-55a-purpose"/>
          <p:cNvSpPr txBox="1"/>
          <p:nvPr/>
        </p:nvSpPr>
        <p:spPr>
          <a:xfrm>
            <a:off x="819150" y="4267200"/>
            <a:ext cx="10553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Функция: проверить одну последовательность данных на всех точках контакта</a:t>
            </a:r>
            <a:endParaRPr lang="en-US" sz="1125" dirty="0"/>
          </a:p>
        </p:txBody>
      </p:sp>
      <p:sp>
        <p:nvSpPr>
          <p:cNvPr id="15" name="text"/>
          <p:cNvSpPr txBox="1"/>
          <p:nvPr/>
        </p:nvSpPr>
        <p:spPr>
          <a:xfrm>
            <a:off x="609600" y="5124450"/>
            <a:ext cx="685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550" dirty="0"/>
          </a:p>
        </p:txBody>
      </p:sp>
      <p:sp>
        <p:nvSpPr>
          <p:cNvPr id="16" name="text"/>
          <p:cNvSpPr txBox="1"/>
          <p:nvPr/>
        </p:nvSpPr>
        <p:spPr>
          <a:xfrm>
            <a:off x="1295400" y="5143500"/>
            <a:ext cx="1866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упаковочных прототипов</a:t>
            </a:r>
            <a:endParaRPr lang="en-US" sz="1275" dirty="0"/>
          </a:p>
        </p:txBody>
      </p:sp>
      <p:sp>
        <p:nvSpPr>
          <p:cNvPr id="17" name="text"/>
          <p:cNvSpPr txBox="1"/>
          <p:nvPr/>
        </p:nvSpPr>
        <p:spPr>
          <a:xfrm>
            <a:off x="3352800" y="5124450"/>
            <a:ext cx="685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550" dirty="0"/>
          </a:p>
        </p:txBody>
      </p:sp>
      <p:sp>
        <p:nvSpPr>
          <p:cNvPr id="18" name="text"/>
          <p:cNvSpPr txBox="1"/>
          <p:nvPr/>
        </p:nvSpPr>
        <p:spPr>
          <a:xfrm>
            <a:off x="4038600" y="5143500"/>
            <a:ext cx="1866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пространственных зон</a:t>
            </a:r>
            <a:endParaRPr lang="en-US" sz="1275" dirty="0"/>
          </a:p>
        </p:txBody>
      </p:sp>
      <p:sp>
        <p:nvSpPr>
          <p:cNvPr id="19" name="text"/>
          <p:cNvSpPr txBox="1"/>
          <p:nvPr/>
        </p:nvSpPr>
        <p:spPr>
          <a:xfrm>
            <a:off x="6096000" y="5124450"/>
            <a:ext cx="685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550" dirty="0"/>
          </a:p>
        </p:txBody>
      </p:sp>
      <p:sp>
        <p:nvSpPr>
          <p:cNvPr id="20" name="text"/>
          <p:cNvSpPr txBox="1"/>
          <p:nvPr/>
        </p:nvSpPr>
        <p:spPr>
          <a:xfrm>
            <a:off x="6781800" y="5143500"/>
            <a:ext cx="1866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печатных носителей</a:t>
            </a:r>
            <a:endParaRPr lang="en-US" sz="1275" dirty="0"/>
          </a:p>
        </p:txBody>
      </p:sp>
      <p:sp>
        <p:nvSpPr>
          <p:cNvPr id="21" name="text"/>
          <p:cNvSpPr txBox="1"/>
          <p:nvPr/>
        </p:nvSpPr>
        <p:spPr>
          <a:xfrm>
            <a:off x="8839200" y="5124450"/>
            <a:ext cx="685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45B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550" dirty="0"/>
          </a:p>
        </p:txBody>
      </p:sp>
      <p:sp>
        <p:nvSpPr>
          <p:cNvPr id="22" name="text"/>
          <p:cNvSpPr txBox="1"/>
          <p:nvPr/>
        </p:nvSpPr>
        <p:spPr>
          <a:xfrm>
            <a:off x="9525000" y="5143500"/>
            <a:ext cx="1866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717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digital-экранов</a:t>
            </a:r>
            <a:endParaRPr lang="en-US" sz="1275" dirty="0"/>
          </a:p>
        </p:txBody>
      </p:sp>
      <p:sp>
        <p:nvSpPr>
          <p:cNvPr id="23" name="text"/>
          <p:cNvSpPr txBox="1"/>
          <p:nvPr/>
        </p:nvSpPr>
        <p:spPr>
          <a:xfrm>
            <a:off x="609600" y="5867400"/>
            <a:ext cx="1097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C5C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После замены плейсхолдеров — только проверка понимания, давления, приватности и доступности.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Responsible Control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Control Presentation System v0.2</dc:title>
  <dc:subject>Editable Figma Slides transport</dc:subject>
  <dc:creator>Responsible Control</dc:creator>
  <cp:lastModifiedBy>Responsible Control</cp:lastModifiedBy>
  <cp:revision>1</cp:revision>
  <dcterms:created xsi:type="dcterms:W3CDTF">2026-09-04T00:10:53Z</dcterms:created>
  <dcterms:modified xsi:type="dcterms:W3CDTF">2026-09-04T00:10:53Z</dcterms:modified>
</cp:coreProperties>
</file>